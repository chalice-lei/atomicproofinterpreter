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4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2103120"/>
            <a:ext cx="548640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CFE0F3"/>
                </a:solidFill>
                <a:latin typeface="Microsoft YaHei"/>
              </a:rPr>
              <a:t>实  习  汇  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800" b="1">
                <a:solidFill>
                  <a:srgbClr val="FFFFFF"/>
                </a:solidFill>
                <a:latin typeface="Microsoft YaHei"/>
              </a:rPr>
              <a:t>面向双栈虚拟机的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5468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800" b="1">
                <a:solidFill>
                  <a:srgbClr val="FFFFFF"/>
                </a:solidFill>
                <a:latin typeface="Microsoft YaHei"/>
              </a:rPr>
              <a:t>类 Python 脚本语言与交互式解释器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77639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800" b="1">
                <a:solidFill>
                  <a:srgbClr val="FFFFFF"/>
                </a:solidFill>
                <a:latin typeface="Microsoft YaHei"/>
              </a:rPr>
              <a:t>的设计与实现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49824"/>
            <a:ext cx="12191695" cy="1408176"/>
          </a:xfrm>
          <a:prstGeom prst="rect">
            <a:avLst/>
          </a:prstGeom>
          <a:solidFill>
            <a:srgbClr val="1236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62356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报告人  ·  徐  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08076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FFFFFF"/>
                </a:solidFill>
                <a:latin typeface="Microsoft YaHei"/>
              </a:rPr>
              <a:t>实习单位  ·  合肥元软软件有限公司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562356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CFE0F3"/>
                </a:solidFill>
                <a:latin typeface="Microsoft YaHei"/>
              </a:rPr>
              <a:t>实习岗位  ·  编译器开发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598932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CFE0F3"/>
                </a:solidFill>
                <a:latin typeface="Microsoft YaHei"/>
              </a:rPr>
              <a:t>工程载体  ·  AtomicProof Compiler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635508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CFE0F3"/>
                </a:solidFill>
                <a:latin typeface="Microsoft YaHei"/>
              </a:rPr>
              <a:t>汇报时间  ·  2026 年 4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4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A4E8A"/>
                </a:solidFill>
                <a:latin typeface="Microsoft YaHei"/>
              </a:rPr>
              <a:t>报告提纲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64748B"/>
                </a:solidFill>
                <a:latin typeface="Microsoft YaHei"/>
              </a:rPr>
              <a:t>Outline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70432"/>
            <a:ext cx="11247120" cy="12700"/>
          </a:xfrm>
          <a:prstGeom prst="rect">
            <a:avLst/>
          </a:prstGeom>
          <a:solidFill>
            <a:srgbClr val="CFD8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260604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2606040" cy="1005840"/>
          </a:xfrm>
          <a:prstGeom prst="rect">
            <a:avLst/>
          </a:prstGeom>
          <a:solidFill>
            <a:srgbClr val="1A4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73352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PART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2024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FFFFFF"/>
                </a:solidFill>
                <a:latin typeface="Microsoft YaHei"/>
              </a:rPr>
              <a:t>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697480"/>
            <a:ext cx="2148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4E8A"/>
                </a:solidFill>
                <a:latin typeface="Microsoft YaHei"/>
              </a:rPr>
              <a:t>实习情况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794760"/>
            <a:ext cx="21488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1F2D3D"/>
                </a:solidFill>
                <a:latin typeface="Microsoft YaHei"/>
              </a:rPr>
              <a:t>公司简介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1F2D3D"/>
                </a:solidFill>
                <a:latin typeface="Microsoft YaHei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1F2D3D"/>
                </a:solidFill>
                <a:latin typeface="Microsoft YaHei"/>
              </a:rPr>
              <a:t>实习岗位与工作内容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27832" y="1508760"/>
            <a:ext cx="260604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27832" y="1508760"/>
            <a:ext cx="2606040" cy="10058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0712" y="1673352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PART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0712" y="192024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FFFFFF"/>
                </a:solidFill>
                <a:latin typeface="Microsoft YaHei"/>
              </a:rPr>
              <a:t>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56432" y="2697480"/>
            <a:ext cx="2148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C9A227"/>
                </a:solidFill>
                <a:latin typeface="Microsoft YaHei"/>
              </a:rPr>
              <a:t>论文进展</a:t>
            </a:r>
          </a:p>
          <a:p>
            <a:pPr algn="l">
              <a:lnSpc>
                <a:spcPct val="120000"/>
              </a:lnSpc>
            </a:pPr>
            <a:r>
              <a:rPr sz="2000" b="1">
                <a:solidFill>
                  <a:srgbClr val="C9A227"/>
                </a:solidFill>
                <a:latin typeface="Microsoft YaHei"/>
              </a:rPr>
              <a:t>（重点）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6432" y="3794760"/>
            <a:ext cx="21488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1F2D3D"/>
                </a:solidFill>
                <a:latin typeface="Microsoft YaHei"/>
              </a:rPr>
              <a:t>论文题目  ·  选题背景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1F2D3D"/>
                </a:solidFill>
                <a:latin typeface="Microsoft YaHei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1F2D3D"/>
                </a:solidFill>
                <a:latin typeface="Microsoft YaHei"/>
              </a:rPr>
              <a:t>课题内容  ·  解决方案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1F2D3D"/>
                </a:solidFill>
                <a:latin typeface="Microsoft YaHei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1F2D3D"/>
                </a:solidFill>
                <a:latin typeface="Microsoft YaHei"/>
              </a:rPr>
              <a:t>技术难点  ·  特色分析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98464" y="1508760"/>
            <a:ext cx="260604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98464" y="1508760"/>
            <a:ext cx="2606040" cy="1005840"/>
          </a:xfrm>
          <a:prstGeom prst="rect">
            <a:avLst/>
          </a:prstGeom>
          <a:solidFill>
            <a:srgbClr val="2A6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81344" y="1673352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PART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1344" y="192024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FFFFFF"/>
                </a:solidFill>
                <a:latin typeface="Microsoft YaHei"/>
              </a:rPr>
              <a:t>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27064" y="2697480"/>
            <a:ext cx="2148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2A6DB0"/>
                </a:solidFill>
                <a:latin typeface="Microsoft YaHei"/>
              </a:rPr>
              <a:t>工作总结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27064" y="3794760"/>
            <a:ext cx="21488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1F2D3D"/>
                </a:solidFill>
                <a:latin typeface="Microsoft YaHei"/>
              </a:rPr>
              <a:t>阶段性成果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1F2D3D"/>
                </a:solidFill>
                <a:latin typeface="Microsoft YaHei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1F2D3D"/>
                </a:solidFill>
                <a:latin typeface="Microsoft YaHei"/>
              </a:rPr>
              <a:t>后续计划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769096" y="1508760"/>
            <a:ext cx="260604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769096" y="1508760"/>
            <a:ext cx="2606040" cy="1005840"/>
          </a:xfrm>
          <a:prstGeom prst="rect">
            <a:avLst/>
          </a:prstGeom>
          <a:solidFill>
            <a:srgbClr val="1A4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51976" y="1673352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PART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51976" y="192024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FFFFFF"/>
                </a:solidFill>
                <a:latin typeface="Microsoft YaHei"/>
              </a:rPr>
              <a:t>四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97696" y="2697480"/>
            <a:ext cx="2148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4E8A"/>
                </a:solidFill>
                <a:latin typeface="Microsoft YaHei"/>
              </a:rPr>
              <a:t>收获与建议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97696" y="3794760"/>
            <a:ext cx="21488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1F2D3D"/>
                </a:solidFill>
                <a:latin typeface="Microsoft YaHei"/>
              </a:rPr>
              <a:t>实习收获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1F2D3D"/>
                </a:solidFill>
                <a:latin typeface="Microsoft YaHei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1F2D3D"/>
                </a:solidFill>
                <a:latin typeface="Microsoft YaHei"/>
              </a:rPr>
              <a:t>意见与建议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64748B"/>
                </a:solidFill>
                <a:latin typeface="Microsoft YaHei"/>
              </a:rPr>
              <a:t>本次汇报重点展开 第二部分 · 论文进展，涵盖选题、方案、难点与创新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Segoe UI"/>
              </a:rPr>
              <a:t>2 / 16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465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Microsoft YaHei"/>
              </a:rPr>
              <a:t>实习汇报  ·  徐磊  ·  合肥元软软件有限公司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4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A4E8A"/>
                </a:solidFill>
                <a:latin typeface="Microsoft YaHei"/>
              </a:rPr>
              <a:t>一、实习情况  ·  公司简介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64748B"/>
                </a:solidFill>
                <a:latin typeface="Microsoft YaHei"/>
              </a:rPr>
              <a:t>合肥元软软件有限公司   ·   元软（YuanRuan）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70432"/>
            <a:ext cx="11247120" cy="12700"/>
          </a:xfrm>
          <a:prstGeom prst="rect">
            <a:avLst/>
          </a:prstGeom>
          <a:solidFill>
            <a:srgbClr val="CFD8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4572000" cy="50292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08760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A4E8A"/>
                </a:solidFill>
                <a:latin typeface="Microsoft YaHei"/>
              </a:rPr>
              <a:t>基本信息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965960"/>
            <a:ext cx="1828800" cy="36576"/>
          </a:xfrm>
          <a:prstGeom prst="rect">
            <a:avLst/>
          </a:prstGeom>
          <a:solidFill>
            <a:srgbClr val="1A4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19456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A6DB0"/>
                </a:solidFill>
                <a:latin typeface="Microsoft YaHei"/>
              </a:rPr>
              <a:t>企业名称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19456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F2D3D"/>
                </a:solidFill>
                <a:latin typeface="Microsoft YaHei"/>
              </a:rPr>
              <a:t>合肥元软软件有限公司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69748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A6DB0"/>
                </a:solidFill>
                <a:latin typeface="Microsoft YaHei"/>
              </a:rPr>
              <a:t>旗下品牌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6974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F2D3D"/>
                </a:solidFill>
                <a:latin typeface="Microsoft YaHei"/>
              </a:rPr>
              <a:t>元软（YuanRuan）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20040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A6DB0"/>
                </a:solidFill>
                <a:latin typeface="Microsoft YaHei"/>
              </a:rPr>
              <a:t>企业性质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320040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F2D3D"/>
                </a:solidFill>
                <a:latin typeface="Microsoft YaHei"/>
              </a:rPr>
              <a:t>技术密集型初创企业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70332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A6DB0"/>
                </a:solidFill>
                <a:latin typeface="Microsoft YaHei"/>
              </a:rPr>
              <a:t>核心赛道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370332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F2D3D"/>
                </a:solidFill>
                <a:latin typeface="Microsoft YaHei"/>
              </a:rPr>
              <a:t>Web3 应用 + 区块链底层设施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20624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A6DB0"/>
                </a:solidFill>
                <a:latin typeface="Microsoft YaHei"/>
              </a:rPr>
              <a:t>产品方向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420624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F2D3D"/>
                </a:solidFill>
                <a:latin typeface="Microsoft YaHei"/>
              </a:rPr>
              <a:t>区块链基础设施 · Web3 创新应用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132588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A4E8A"/>
                </a:solidFill>
                <a:latin typeface="Microsoft YaHei"/>
              </a:rPr>
              <a:t>业务定位与愿景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03520" y="1783080"/>
            <a:ext cx="1828800" cy="36576"/>
          </a:xfrm>
          <a:prstGeom prst="rect">
            <a:avLst/>
          </a:prstGeom>
          <a:solidFill>
            <a:srgbClr val="1A4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0" y="201168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1F2D3D"/>
                </a:solidFill>
                <a:latin typeface="Microsoft YaHei"/>
              </a:rPr>
              <a:t>专注于 Web3 应用 与 区块链底层设施 研发，</a:t>
            </a:r>
          </a:p>
          <a:p>
            <a:pPr algn="l">
              <a:lnSpc>
                <a:spcPct val="150000"/>
              </a:lnSpc>
            </a:pPr>
            <a:r>
              <a:rPr sz="1500" b="0">
                <a:solidFill>
                  <a:srgbClr val="1F2D3D"/>
                </a:solidFill>
                <a:latin typeface="Microsoft YaHei"/>
              </a:rPr>
              <a:t>致力于打造 改变世界的区块链基础设施，</a:t>
            </a:r>
          </a:p>
          <a:p>
            <a:pPr algn="l">
              <a:lnSpc>
                <a:spcPct val="150000"/>
              </a:lnSpc>
            </a:pPr>
            <a:r>
              <a:rPr sz="1500" b="0">
                <a:solidFill>
                  <a:srgbClr val="1F2D3D"/>
                </a:solidFill>
                <a:latin typeface="Microsoft YaHei"/>
              </a:rPr>
              <a:t>探索 Web3 技术在全球化浪潮中的无限可能。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03520" y="3566160"/>
            <a:ext cx="6400800" cy="777240"/>
          </a:xfrm>
          <a:prstGeom prst="rect">
            <a:avLst/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03520" y="3566160"/>
            <a:ext cx="73152" cy="777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0" y="36576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A4E8A"/>
                </a:solidFill>
                <a:latin typeface="Segoe UI"/>
              </a:rPr>
              <a:t>Web3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393192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F2D3D"/>
                </a:solidFill>
                <a:latin typeface="Microsoft YaHei"/>
              </a:rPr>
              <a:t>面向下一代去中心化应用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03520" y="4480560"/>
            <a:ext cx="6400800" cy="777240"/>
          </a:xfrm>
          <a:prstGeom prst="rect">
            <a:avLst/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303520" y="4480560"/>
            <a:ext cx="73152" cy="777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0" y="45720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A4E8A"/>
                </a:solidFill>
                <a:latin typeface="Segoe UI"/>
              </a:rPr>
              <a:t>Infrastructure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484632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F2D3D"/>
                </a:solidFill>
                <a:latin typeface="Microsoft YaHei"/>
              </a:rPr>
              <a:t>底层基础设施研发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03520" y="5394960"/>
            <a:ext cx="6400800" cy="777240"/>
          </a:xfrm>
          <a:prstGeom prst="rect">
            <a:avLst/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303520" y="5394960"/>
            <a:ext cx="73152" cy="777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0" y="54864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A4E8A"/>
                </a:solidFill>
                <a:latin typeface="Segoe UI"/>
              </a:rPr>
              <a:t>Innovation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0" y="576072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F2D3D"/>
                </a:solidFill>
                <a:latin typeface="Microsoft YaHei"/>
              </a:rPr>
              <a:t>多项独树一帜的产品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Segoe UI"/>
              </a:rPr>
              <a:t>3 / 16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465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Microsoft YaHei"/>
              </a:rPr>
              <a:t>实习汇报  ·  徐磊  ·  合肥元软软件有限公司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4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A4E8A"/>
                </a:solidFill>
                <a:latin typeface="Microsoft YaHei"/>
              </a:rPr>
              <a:t>一、实习情况  ·  实习工作介绍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64748B"/>
                </a:solidFill>
                <a:latin typeface="Microsoft YaHei"/>
              </a:rPr>
              <a:t>实习岗位：编译器开发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70432"/>
            <a:ext cx="11247120" cy="12700"/>
          </a:xfrm>
          <a:prstGeom prst="rect">
            <a:avLst/>
          </a:prstGeom>
          <a:solidFill>
            <a:srgbClr val="CFD8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A4E8A"/>
                </a:solidFill>
                <a:latin typeface="Microsoft YaHei"/>
              </a:rPr>
              <a:t>岗位职责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1828800" cy="36576"/>
          </a:xfrm>
          <a:prstGeom prst="rect">
            <a:avLst/>
          </a:prstGeom>
          <a:solidFill>
            <a:srgbClr val="1A4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920240"/>
            <a:ext cx="56692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2A6DB0"/>
                </a:solidFill>
                <a:latin typeface="Segoe UI"/>
              </a:rPr>
              <a:t>● </a:t>
            </a:r>
            <a:r>
              <a:rPr sz="1400">
                <a:solidFill>
                  <a:srgbClr val="1F2D3D"/>
                </a:solidFill>
                <a:latin typeface="Microsoft YaHei"/>
              </a:rPr>
              <a:t>参与公司自研区块链脚本语言的编译器研发</a:t>
            </a:r>
          </a:p>
          <a:p>
            <a:pPr algn="l">
              <a:lnSpc>
                <a:spcPct val="130000"/>
              </a:lnSpc>
            </a:pPr>
            <a:r>
              <a:rPr sz="1400" b="1">
                <a:solidFill>
                  <a:srgbClr val="2A6DB0"/>
                </a:solidFill>
                <a:latin typeface="Segoe UI"/>
              </a:rPr>
              <a:t>● </a:t>
            </a:r>
            <a:r>
              <a:rPr sz="1400">
                <a:solidFill>
                  <a:srgbClr val="1F2D3D"/>
                </a:solidFill>
                <a:latin typeface="Microsoft YaHei"/>
              </a:rPr>
              <a:t>负责前端（词法 / 语法 / AST）模块迭代</a:t>
            </a:r>
          </a:p>
          <a:p>
            <a:pPr algn="l">
              <a:lnSpc>
                <a:spcPct val="130000"/>
              </a:lnSpc>
            </a:pPr>
            <a:r>
              <a:rPr sz="1400" b="1">
                <a:solidFill>
                  <a:srgbClr val="2A6DB0"/>
                </a:solidFill>
                <a:latin typeface="Segoe UI"/>
              </a:rPr>
              <a:t>● </a:t>
            </a:r>
            <a:r>
              <a:rPr sz="1400">
                <a:solidFill>
                  <a:srgbClr val="1F2D3D"/>
                </a:solidFill>
                <a:latin typeface="Microsoft YaHei"/>
              </a:rPr>
              <a:t>参与中端 Visitor 分析与字节码后端实现</a:t>
            </a:r>
          </a:p>
          <a:p>
            <a:pPr algn="l">
              <a:lnSpc>
                <a:spcPct val="130000"/>
              </a:lnSpc>
            </a:pPr>
            <a:r>
              <a:rPr sz="1400" b="1">
                <a:solidFill>
                  <a:srgbClr val="2A6DB0"/>
                </a:solidFill>
                <a:latin typeface="Segoe UI"/>
              </a:rPr>
              <a:t>● </a:t>
            </a:r>
            <a:r>
              <a:rPr sz="1400">
                <a:solidFill>
                  <a:srgbClr val="1F2D3D"/>
                </a:solidFill>
                <a:latin typeface="Microsoft YaHei"/>
              </a:rPr>
              <a:t>为编译器配套交互式调试器开发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3258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A4E8A"/>
                </a:solidFill>
                <a:latin typeface="Microsoft YaHei"/>
              </a:rPr>
              <a:t>技术栈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691640"/>
            <a:ext cx="1828800" cy="36576"/>
          </a:xfrm>
          <a:prstGeom prst="rect">
            <a:avLst/>
          </a:prstGeom>
          <a:solidFill>
            <a:srgbClr val="1A4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920240"/>
            <a:ext cx="5303520" cy="384048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9933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A6DB0"/>
                </a:solidFill>
                <a:latin typeface="Segoe UI"/>
              </a:rPr>
              <a:t>C++ 20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199339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Microsoft YaHei"/>
              </a:rPr>
              <a:t>核心实现语言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2423160"/>
            <a:ext cx="5303520" cy="384048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24963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A6DB0"/>
                </a:solidFill>
                <a:latin typeface="Segoe UI"/>
              </a:rPr>
              <a:t>CMake ≥ 3.28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249631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Microsoft YaHei"/>
              </a:rPr>
              <a:t>跨平台构建系统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2926080"/>
            <a:ext cx="5303520" cy="384048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29992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A6DB0"/>
                </a:solidFill>
                <a:latin typeface="Segoe UI"/>
              </a:rPr>
              <a:t>nlohmann/json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299923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Microsoft YaHei"/>
              </a:rPr>
              <a:t>JSON 序列化与 ABI 输出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3429000"/>
            <a:ext cx="5303520" cy="384048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35021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A6DB0"/>
                </a:solidFill>
                <a:latin typeface="Segoe UI"/>
              </a:rPr>
              <a:t>Bitcoin Script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350215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Microsoft YaHei"/>
              </a:rPr>
              <a:t>目标双栈虚拟机指令集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3931920"/>
            <a:ext cx="5303520" cy="384048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400507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A6DB0"/>
                </a:solidFill>
                <a:latin typeface="Segoe UI"/>
              </a:rPr>
              <a:t>MinGW-w64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400507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Microsoft YaHei"/>
              </a:rPr>
              <a:t>Windows 交叉编译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937760"/>
            <a:ext cx="11247120" cy="1417320"/>
          </a:xfrm>
          <a:prstGeom prst="rect">
            <a:avLst/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4937760"/>
            <a:ext cx="73152" cy="14173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029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4E8A"/>
                </a:solidFill>
                <a:latin typeface="Microsoft YaHei"/>
              </a:rPr>
              <a:t>实习期间主要工作产出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4406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1F2D3D"/>
                </a:solidFill>
                <a:latin typeface="Microsoft YaHei"/>
              </a:rPr>
              <a:t>1)  完成约  800 KB  C++ 编译器核心代码迭代  ·   2)  设计并实现 四阶段 Pass + 四层 Visitor 架构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1F2D3D"/>
                </a:solidFill>
                <a:latin typeface="Microsoft YaHei"/>
              </a:rPr>
              <a:t>3)  实现 双栈调度原语 与 分层所有权系统      ·   4)  搭建 BVM 模拟器 与 CLI 交互式调试器框架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Segoe UI"/>
              </a:rPr>
              <a:t>4 / 16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465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Microsoft YaHei"/>
              </a:rPr>
              <a:t>实习汇报  ·  徐磊  ·  合肥元软软件有限公司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4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A4E8A"/>
                </a:solidFill>
                <a:latin typeface="Microsoft YaHei"/>
              </a:rPr>
              <a:t>二、论文进展  ·  论文题目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64748B"/>
                </a:solidFill>
                <a:latin typeface="Microsoft YaHei"/>
              </a:rPr>
              <a:t>Topic &amp;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70432"/>
            <a:ext cx="11247120" cy="12700"/>
          </a:xfrm>
          <a:prstGeom prst="rect">
            <a:avLst/>
          </a:prstGeom>
          <a:solidFill>
            <a:srgbClr val="CFD8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11247120" cy="1828800"/>
          </a:xfrm>
          <a:prstGeom prst="rect">
            <a:avLst/>
          </a:prstGeom>
          <a:solidFill>
            <a:srgbClr val="1A4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CFE0F3"/>
                </a:solidFill>
                <a:latin typeface="Microsoft YaHei"/>
              </a:rPr>
              <a:t>学位论文题目（中文）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2880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面向双栈虚拟机的类 Python 脚本语言与交互式解释器的设计与实现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06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CFE0F3"/>
                </a:solidFill>
                <a:latin typeface="Segoe UI"/>
              </a:rPr>
              <a:t>Design and Implementation of a Python-like Scripting Language and Interactive Interpreter for Dual-Stack Virtual Machines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520440"/>
            <a:ext cx="1417320" cy="411480"/>
          </a:xfrm>
          <a:prstGeom prst="rect">
            <a:avLst/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593592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1A4E8A"/>
                </a:solidFill>
                <a:latin typeface="Microsoft YaHei"/>
              </a:rPr>
              <a:t>双栈虚拟机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0" y="3520440"/>
            <a:ext cx="2788920" cy="411480"/>
          </a:xfrm>
          <a:prstGeom prst="rect">
            <a:avLst/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1680" y="3593592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1A4E8A"/>
                </a:solidFill>
                <a:latin typeface="Microsoft YaHei"/>
              </a:rPr>
              <a:t>类 Python 脚本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60" y="3520440"/>
            <a:ext cx="960120" cy="411480"/>
          </a:xfrm>
          <a:prstGeom prst="rect">
            <a:avLst/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0" y="359359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1A4E8A"/>
                </a:solidFill>
                <a:latin typeface="Microsoft YaHei"/>
              </a:rPr>
              <a:t>编译器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3520440"/>
            <a:ext cx="1645920" cy="411480"/>
          </a:xfrm>
          <a:prstGeom prst="rect">
            <a:avLst/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0" y="359359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1A4E8A"/>
                </a:solidFill>
                <a:latin typeface="Microsoft YaHei"/>
              </a:rPr>
              <a:t>交互式调试器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18120" y="3520440"/>
            <a:ext cx="1417320" cy="411480"/>
          </a:xfrm>
          <a:prstGeom prst="rect">
            <a:avLst/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18120" y="3593592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1A4E8A"/>
                </a:solidFill>
                <a:latin typeface="Microsoft YaHei"/>
              </a:rPr>
              <a:t>比特币脚本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72600" y="3520440"/>
            <a:ext cx="1417320" cy="411480"/>
          </a:xfrm>
          <a:prstGeom prst="rect">
            <a:avLst/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72600" y="3593592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1A4E8A"/>
                </a:solidFill>
                <a:latin typeface="Microsoft YaHei"/>
              </a:rPr>
              <a:t>区块链合约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2976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A4E8A"/>
                </a:solidFill>
                <a:latin typeface="Microsoft YaHei"/>
              </a:rPr>
              <a:t>论文三大主线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754880"/>
            <a:ext cx="365760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754880"/>
            <a:ext cx="3657600" cy="457200"/>
          </a:xfrm>
          <a:prstGeom prst="rect">
            <a:avLst/>
          </a:prstGeom>
          <a:solidFill>
            <a:srgbClr val="1A4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82803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①  语言层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349240"/>
            <a:ext cx="32918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1F2D3D"/>
                </a:solidFill>
                <a:latin typeface="Microsoft YaHei"/>
              </a:rPr>
              <a:t>类 Python 缩进语法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1F2D3D"/>
                </a:solidFill>
                <a:latin typeface="Microsoft YaHei"/>
              </a:rPr>
              <a:t>+ 静态类型与所有权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51960" y="4754880"/>
            <a:ext cx="365760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51960" y="4754880"/>
            <a:ext cx="3657600" cy="457200"/>
          </a:xfrm>
          <a:prstGeom prst="rect">
            <a:avLst/>
          </a:prstGeom>
          <a:solidFill>
            <a:srgbClr val="1A4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34840" y="482803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②  编译层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5349240"/>
            <a:ext cx="32918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1F2D3D"/>
                </a:solidFill>
                <a:latin typeface="Microsoft YaHei"/>
              </a:rPr>
              <a:t>Pass 驱动 + 四层 Visitor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1F2D3D"/>
                </a:solidFill>
                <a:latin typeface="Microsoft YaHei"/>
              </a:rPr>
              <a:t>双栈字节码生成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6720" y="4754880"/>
            <a:ext cx="365760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6720" y="4754880"/>
            <a:ext cx="3657600" cy="457200"/>
          </a:xfrm>
          <a:prstGeom prst="rect">
            <a:avLst/>
          </a:prstGeom>
          <a:solidFill>
            <a:srgbClr val="1A4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0" y="482803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③  运行层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5349240"/>
            <a:ext cx="32918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1F2D3D"/>
                </a:solidFill>
                <a:latin typeface="Microsoft YaHei"/>
              </a:rPr>
              <a:t>BVM 模拟器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1F2D3D"/>
                </a:solidFill>
                <a:latin typeface="Microsoft YaHei"/>
              </a:rPr>
              <a:t>+ CLI 交互式调试器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Segoe UI"/>
              </a:rPr>
              <a:t>5 / 16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465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Microsoft YaHei"/>
              </a:rPr>
              <a:t>实习汇报  ·  徐磊  ·  合肥元软软件有限公司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4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A4E8A"/>
                </a:solidFill>
                <a:latin typeface="Microsoft YaHei"/>
              </a:rPr>
              <a:t>二、论文进展  ·  选题背景与意义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64748B"/>
                </a:solidFill>
                <a:latin typeface="Microsoft YaHei"/>
              </a:rPr>
              <a:t>Background &amp; Motivation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70432"/>
            <a:ext cx="11247120" cy="12700"/>
          </a:xfrm>
          <a:prstGeom prst="rect">
            <a:avLst/>
          </a:prstGeom>
          <a:solidFill>
            <a:srgbClr val="CFD8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A4E8A"/>
                </a:solidFill>
                <a:latin typeface="Microsoft YaHei"/>
              </a:rPr>
              <a:t>区块链合约开发的三大痛点（双栈虚拟机视角）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74519"/>
            <a:ext cx="11247120" cy="7772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74519"/>
            <a:ext cx="594360" cy="777240"/>
          </a:xfrm>
          <a:prstGeom prst="rect">
            <a:avLst/>
          </a:prstGeom>
          <a:solidFill>
            <a:srgbClr val="1A4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039111"/>
            <a:ext cx="594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965959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4E8A"/>
                </a:solidFill>
                <a:latin typeface="Microsoft YaHei"/>
              </a:rPr>
              <a:t>原生脚本汇编化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285999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1F2D3D"/>
                </a:solidFill>
                <a:latin typeface="Microsoft YaHei"/>
              </a:rPr>
              <a:t>比特币脚本只有约 100 个操作码，无变量、无函数；开发者必须以栈偏移而非变量名思考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788920"/>
            <a:ext cx="11247120" cy="7772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788920"/>
            <a:ext cx="594360" cy="777240"/>
          </a:xfrm>
          <a:prstGeom prst="rect">
            <a:avLst/>
          </a:prstGeom>
          <a:solidFill>
            <a:srgbClr val="1A4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953512"/>
            <a:ext cx="594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88036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4E8A"/>
                </a:solidFill>
                <a:latin typeface="Microsoft YaHei"/>
              </a:rPr>
              <a:t>抽象能力缺失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2004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1F2D3D"/>
                </a:solidFill>
                <a:latin typeface="Microsoft YaHei"/>
              </a:rPr>
              <a:t>无结构化控制流块、无结构体、无库；复杂合约不可读也不可维护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703320"/>
            <a:ext cx="11247120" cy="7772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703320"/>
            <a:ext cx="594360" cy="777240"/>
          </a:xfrm>
          <a:prstGeom prst="rect">
            <a:avLst/>
          </a:prstGeom>
          <a:solidFill>
            <a:srgbClr val="1A4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867912"/>
            <a:ext cx="594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</a:rPr>
              <a:t>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79476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4E8A"/>
                </a:solidFill>
                <a:latin typeface="Microsoft YaHei"/>
              </a:rPr>
              <a:t>调试手段匮乏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1148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1F2D3D"/>
                </a:solidFill>
                <a:latin typeface="Microsoft YaHei"/>
              </a:rPr>
              <a:t>只有栈而无寄存器，传统调试模型无法直接套用；链上失败仅得到布尔结果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892040"/>
            <a:ext cx="11247120" cy="1463040"/>
          </a:xfrm>
          <a:prstGeom prst="rect">
            <a:avLst/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892040"/>
            <a:ext cx="73152" cy="14630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983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4E8A"/>
                </a:solidFill>
                <a:latin typeface="Microsoft YaHei"/>
              </a:rPr>
              <a:t>论文意义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34924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1F2D3D"/>
                </a:solidFill>
                <a:latin typeface="Microsoft YaHei"/>
              </a:rPr>
              <a:t>理论价值：填补「双栈 VM 上的高级语言编译模型」与「栈槽粒度所有权系统」的研究空白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1F2D3D"/>
                </a:solidFill>
                <a:latin typeface="Microsoft YaHei"/>
              </a:rPr>
              <a:t>工程价值：为 UTXO 型区块链提供可读的高级语言与端到端工具链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1F2D3D"/>
                </a:solidFill>
                <a:latin typeface="Microsoft YaHei"/>
              </a:rPr>
              <a:t>实用价值：把「盲写 + 链上试错」升级为可断点、可检视、可单步的工程化开发流程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Segoe UI"/>
              </a:rPr>
              <a:t>6 / 16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465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Microsoft YaHei"/>
              </a:rPr>
              <a:t>实习汇报  ·  徐磊  ·  合肥元软软件有限公司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4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A4E8A"/>
                </a:solidFill>
                <a:latin typeface="Microsoft YaHei"/>
              </a:rPr>
              <a:t>二、论文进展  ·  课题内容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64748B"/>
                </a:solidFill>
                <a:latin typeface="Microsoft YaHei"/>
              </a:rPr>
              <a:t>Research Goals &amp; Contents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70432"/>
            <a:ext cx="11247120" cy="12700"/>
          </a:xfrm>
          <a:prstGeom prst="rect">
            <a:avLst/>
          </a:prstGeom>
          <a:solidFill>
            <a:srgbClr val="CFD8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A4E8A"/>
                </a:solidFill>
                <a:latin typeface="Microsoft YaHei"/>
              </a:rPr>
              <a:t>研究目标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1371600" cy="36576"/>
          </a:xfrm>
          <a:prstGeom prst="rect">
            <a:avLst/>
          </a:prstGeom>
          <a:solidFill>
            <a:srgbClr val="1A4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640080" cy="457200"/>
          </a:xfrm>
          <a:prstGeom prst="rect">
            <a:avLst/>
          </a:prstGeom>
          <a:solidFill>
            <a:srgbClr val="1A4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993392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G1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993392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1F2D3D"/>
                </a:solidFill>
                <a:latin typeface="Microsoft YaHei"/>
              </a:rPr>
              <a:t>语法接近 Python，类型系统支持静态标注与线性所有权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468880"/>
            <a:ext cx="640080" cy="457200"/>
          </a:xfrm>
          <a:prstGeom prst="rect">
            <a:avLst/>
          </a:prstGeom>
          <a:solidFill>
            <a:srgbClr val="1A4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542032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G2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542032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1F2D3D"/>
                </a:solidFill>
                <a:latin typeface="Microsoft YaHei"/>
              </a:rPr>
              <a:t>字节码长度较朴素方案节省 ≥ 30%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017520"/>
            <a:ext cx="640080" cy="457200"/>
          </a:xfrm>
          <a:prstGeom prst="rect">
            <a:avLst/>
          </a:prstGeom>
          <a:solidFill>
            <a:srgbClr val="1A4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090672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G3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090672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1F2D3D"/>
                </a:solidFill>
                <a:latin typeface="Microsoft YaHei"/>
              </a:rPr>
              <a:t>编译期静态识别所有权 / 类型 / 栈不平衡错误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566160"/>
            <a:ext cx="640080" cy="457200"/>
          </a:xfrm>
          <a:prstGeom prst="rect">
            <a:avLst/>
          </a:prstGeom>
          <a:solidFill>
            <a:srgbClr val="1A4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639312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G4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639312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1F2D3D"/>
                </a:solidFill>
                <a:latin typeface="Microsoft YaHei"/>
              </a:rPr>
              <a:t>提供可断点、可检视、可单步的交互式调试器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114800"/>
            <a:ext cx="640080" cy="457200"/>
          </a:xfrm>
          <a:prstGeom prst="rect">
            <a:avLst/>
          </a:prstGeom>
          <a:solidFill>
            <a:srgbClr val="1A4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187952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G5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187952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1F2D3D"/>
                </a:solidFill>
                <a:latin typeface="Microsoft YaHei"/>
              </a:rPr>
              <a:t>10+ 代表性合约的基准评测与正确性验证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13258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A4E8A"/>
                </a:solidFill>
                <a:latin typeface="Microsoft YaHei"/>
              </a:rPr>
              <a:t>研究内容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1691640"/>
            <a:ext cx="1371600" cy="36576"/>
          </a:xfrm>
          <a:prstGeom prst="rect">
            <a:avLst/>
          </a:prstGeom>
          <a:solidFill>
            <a:srgbClr val="1A4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1920240"/>
            <a:ext cx="640080" cy="4572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1993392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R1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40" y="1993392"/>
            <a:ext cx="4526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1F2D3D"/>
                </a:solidFill>
                <a:latin typeface="Microsoft YaHei"/>
              </a:rPr>
              <a:t>类 Python 脚本语言的语法与类型系统设计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2468880"/>
            <a:ext cx="640080" cy="4572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2542032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R2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78040" y="2542032"/>
            <a:ext cx="4526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1F2D3D"/>
                </a:solidFill>
                <a:latin typeface="Microsoft YaHei"/>
              </a:rPr>
              <a:t>Pass 驱动的多阶段编译器架构与四层 Visitor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3017520"/>
            <a:ext cx="640080" cy="4572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090672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R3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78040" y="3090672"/>
            <a:ext cx="4526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1F2D3D"/>
                </a:solidFill>
                <a:latin typeface="Microsoft YaHei"/>
              </a:rPr>
              <a:t>双栈编译模型与分层所有权系统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3566160"/>
            <a:ext cx="640080" cy="4572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3639312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R4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78040" y="3639312"/>
            <a:ext cx="4526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1F2D3D"/>
                </a:solidFill>
                <a:latin typeface="Microsoft YaHei"/>
              </a:rPr>
              <a:t>BVM 模拟器与 CLI 交互式调试器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4114800"/>
            <a:ext cx="640080" cy="4572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4187952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R5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78040" y="4187952"/>
            <a:ext cx="4526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1F2D3D"/>
                </a:solidFill>
                <a:latin typeface="Microsoft YaHei"/>
              </a:rPr>
              <a:t>评测基准建设与定量对比分析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5029200"/>
            <a:ext cx="11247120" cy="1325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5120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4E8A"/>
                </a:solidFill>
                <a:latin typeface="Microsoft YaHei"/>
              </a:rPr>
              <a:t>拟解决的关键问题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54864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1F2D3D"/>
                </a:solidFill>
                <a:latin typeface="Microsoft YaHei"/>
              </a:rPr>
              <a:t>K1  Python 缩进语法与静态类型 / 线性所有权如何统一？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F2D3D"/>
                </a:solidFill>
                <a:latin typeface="Microsoft YaHei"/>
              </a:rPr>
              <a:t>K2  栈槽粒度的 use-after-consume 如何静态验证？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F2D3D"/>
                </a:solidFill>
                <a:latin typeface="Microsoft YaHei"/>
              </a:rPr>
              <a:t>K3  控制流分支后的双栈平衡如何保证？      K4  「变量 = 标签」的零成本重命名何时必须插入 OP_ROLL？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Segoe UI"/>
              </a:rPr>
              <a:t>7 / 16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465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Microsoft YaHei"/>
              </a:rPr>
              <a:t>实习汇报  ·  徐磊  ·  合肥元软软件有限公司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4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A4E8A"/>
                </a:solidFill>
                <a:latin typeface="Microsoft YaHei"/>
              </a:rPr>
              <a:t>二、论文进展  ·  解决方案（一）总体架构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64748B"/>
                </a:solidFill>
                <a:latin typeface="Microsoft YaHei"/>
              </a:rPr>
              <a:t>Pass-driven Compilation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70432"/>
            <a:ext cx="11247120" cy="12700"/>
          </a:xfrm>
          <a:prstGeom prst="rect">
            <a:avLst/>
          </a:prstGeom>
          <a:solidFill>
            <a:srgbClr val="CFD8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25880"/>
            <a:ext cx="11521440" cy="33832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399032"/>
            <a:ext cx="11301984" cy="3236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>
                <a:solidFill>
                  <a:srgbClr val="E2E8F0"/>
                </a:solidFill>
                <a:latin typeface="Consolas"/>
              </a:rPr>
              <a:t>┌──────────┐ tokens ┌──────────┐  AST  ┌───────────────────────────────────┐ bytecode ┌──────────────────┐</a:t>
            </a:r>
          </a:p>
          <a:p>
            <a:pPr algn="l">
              <a:lnSpc>
                <a:spcPct val="118000"/>
              </a:lnSpc>
            </a:pPr>
            <a:r>
              <a:rPr sz="1200">
                <a:solidFill>
                  <a:srgbClr val="E2E8F0"/>
                </a:solidFill>
                <a:latin typeface="Consolas"/>
              </a:rPr>
              <a:t>│ LexerPass│ ─────→ │ParserPass│ ────→ │        AstToBytecodePass          │ ──────→  │ ExportResultsPass│</a:t>
            </a:r>
          </a:p>
          <a:p>
            <a:pPr algn="l">
              <a:lnSpc>
                <a:spcPct val="118000"/>
              </a:lnSpc>
            </a:pPr>
            <a:r>
              <a:rPr sz="1200">
                <a:solidFill>
                  <a:srgbClr val="E2E8F0"/>
                </a:solidFill>
                <a:latin typeface="Consolas"/>
              </a:rPr>
              <a:t>└──────────┘        └──────────┘       │  ┌──────────────────────────────┐ │          └──────────────────┘</a:t>
            </a:r>
          </a:p>
          <a:p>
            <a:pPr algn="l">
              <a:lnSpc>
                <a:spcPct val="118000"/>
              </a:lnSpc>
            </a:pPr>
            <a:r>
              <a:rPr sz="1200">
                <a:solidFill>
                  <a:srgbClr val="E2E8F0"/>
                </a:solidFill>
                <a:latin typeface="Consolas"/>
              </a:rPr>
              <a:t>                                       │  │ ① CollectSymbolsVisitor      │ │                    │</a:t>
            </a:r>
          </a:p>
          <a:p>
            <a:pPr algn="l">
              <a:lnSpc>
                <a:spcPct val="118000"/>
              </a:lnSpc>
            </a:pPr>
            <a:r>
              <a:rPr sz="1200">
                <a:solidFill>
                  <a:srgbClr val="E2E8F0"/>
                </a:solidFill>
                <a:latin typeface="Consolas"/>
              </a:rPr>
              <a:t>                                       │  │ ② PreAnalysisVisitor   ★     │ │                    ↓</a:t>
            </a:r>
          </a:p>
          <a:p>
            <a:pPr algn="l">
              <a:lnSpc>
                <a:spcPct val="118000"/>
              </a:lnSpc>
            </a:pPr>
            <a:r>
              <a:rPr sz="1200">
                <a:solidFill>
                  <a:srgbClr val="E2E8F0"/>
                </a:solidFill>
                <a:latin typeface="Consolas"/>
              </a:rPr>
              <a:t>                                       │  │ ③ StaticInfoVisitor          │ │               output.json</a:t>
            </a:r>
          </a:p>
          <a:p>
            <a:pPr algn="l">
              <a:lnSpc>
                <a:spcPct val="118000"/>
              </a:lnSpc>
            </a:pPr>
            <a:r>
              <a:rPr sz="1200">
                <a:solidFill>
                  <a:srgbClr val="E2E8F0"/>
                </a:solidFill>
                <a:latin typeface="Consolas"/>
              </a:rPr>
              <a:t>                                       │  │ ④ AstToBytecodeVisitor ★     │ │          { lock.hex, unlock,</a:t>
            </a:r>
          </a:p>
          <a:p>
            <a:pPr algn="l">
              <a:lnSpc>
                <a:spcPct val="118000"/>
              </a:lnSpc>
            </a:pPr>
            <a:r>
              <a:rPr sz="1200">
                <a:solidFill>
                  <a:srgbClr val="E2E8F0"/>
                </a:solidFill>
                <a:latin typeface="Consolas"/>
              </a:rPr>
              <a:t>                                       │  └──────────────────────────────┘ │            abi, structs, ... }</a:t>
            </a:r>
          </a:p>
          <a:p>
            <a:pPr algn="l">
              <a:lnSpc>
                <a:spcPct val="118000"/>
              </a:lnSpc>
            </a:pPr>
            <a:r>
              <a:rPr sz="1200">
                <a:solidFill>
                  <a:srgbClr val="E2E8F0"/>
                </a:solidFill>
                <a:latin typeface="Consolas"/>
              </a:rPr>
              <a:t>                                       │         ↓ BytecodeGenerator       │</a:t>
            </a:r>
          </a:p>
          <a:p>
            <a:pPr algn="l">
              <a:lnSpc>
                <a:spcPct val="118000"/>
              </a:lnSpc>
            </a:pPr>
            <a:r>
              <a:rPr sz="1200">
                <a:solidFill>
                  <a:srgbClr val="E2E8F0"/>
                </a:solidFill>
                <a:latin typeface="Consolas"/>
              </a:rPr>
              <a:t>                                       │         ↓ TypeValidator           │</a:t>
            </a:r>
          </a:p>
          <a:p>
            <a:pPr algn="l">
              <a:lnSpc>
                <a:spcPct val="118000"/>
              </a:lnSpc>
            </a:pPr>
            <a:r>
              <a:rPr sz="1200">
                <a:solidFill>
                  <a:srgbClr val="E2E8F0"/>
                </a:solidFill>
                <a:latin typeface="Consolas"/>
              </a:rPr>
              <a:t>                                       │         ↓ ConstantFolding         │</a:t>
            </a:r>
          </a:p>
          <a:p>
            <a:pPr algn="l">
              <a:lnSpc>
                <a:spcPct val="118000"/>
              </a:lnSpc>
            </a:pPr>
            <a:r>
              <a:rPr sz="1200">
                <a:solidFill>
                  <a:srgbClr val="E2E8F0"/>
                </a:solidFill>
                <a:latin typeface="Consolas"/>
              </a:rPr>
              <a:t>                                       └───────────────────────────────────┘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4632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A4E8A"/>
                </a:solidFill>
                <a:latin typeface="Microsoft YaHei"/>
              </a:rPr>
              <a:t>架构要点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212080"/>
            <a:ext cx="111556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2A6DB0"/>
                </a:solidFill>
                <a:latin typeface="Segoe UI"/>
              </a:rPr>
              <a:t>● </a:t>
            </a:r>
            <a:r>
              <a:rPr sz="1300">
                <a:solidFill>
                  <a:srgbClr val="1F2D3D"/>
                </a:solidFill>
                <a:latin typeface="Microsoft YaHei"/>
              </a:rPr>
              <a:t>四阶段 Pass —— 基于 PassManager 的依赖注入与拓扑排序，可独立启用 / 禁用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2A6DB0"/>
                </a:solidFill>
                <a:latin typeface="Segoe UI"/>
              </a:rPr>
              <a:t>● </a:t>
            </a:r>
            <a:r>
              <a:rPr sz="1300">
                <a:solidFill>
                  <a:srgbClr val="1F2D3D"/>
                </a:solidFill>
                <a:latin typeface="Microsoft YaHei"/>
              </a:rPr>
              <a:t>四层 Visitor —— 符号收集 → 预分析 → 静态信息 → 字节码生成；前后互为镜像，错误前置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2A6DB0"/>
                </a:solidFill>
                <a:latin typeface="Segoe UI"/>
              </a:rPr>
              <a:t>● </a:t>
            </a:r>
            <a:r>
              <a:rPr sz="1300">
                <a:solidFill>
                  <a:srgbClr val="1F2D3D"/>
                </a:solidFill>
                <a:latin typeface="Microsoft YaHei"/>
              </a:rPr>
              <a:t>三件套后端 —— BytecodeGenerator + Scope（栈槽符号表）+ TypeValidator（类型校验）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2A6DB0"/>
                </a:solidFill>
                <a:latin typeface="Segoe UI"/>
              </a:rPr>
              <a:t>● </a:t>
            </a:r>
            <a:r>
              <a:rPr sz="1300">
                <a:solidFill>
                  <a:srgbClr val="1F2D3D"/>
                </a:solidFill>
                <a:latin typeface="Microsoft YaHei"/>
              </a:rPr>
              <a:t>统一输出 —— output.json 含锁定脚本 / 解锁模板 / ABI / 结构体定义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Segoe UI"/>
              </a:rPr>
              <a:t>8 / 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Microsoft YaHei"/>
              </a:rPr>
              <a:t>实习汇报  ·  徐磊  ·  合肥元软软件有限公司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4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A4E8A"/>
                </a:solidFill>
                <a:latin typeface="Microsoft YaHei"/>
              </a:rPr>
              <a:t>二、论文进展  ·  解决方案（二）语言设计与前端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64748B"/>
                </a:solidFill>
                <a:latin typeface="Microsoft YaHei"/>
              </a:rPr>
              <a:t>Python-like Syntax  ·  Lexer &amp; Parser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70432"/>
            <a:ext cx="11247120" cy="12700"/>
          </a:xfrm>
          <a:prstGeom prst="rect">
            <a:avLst/>
          </a:prstGeom>
          <a:solidFill>
            <a:srgbClr val="CFD8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A4E8A"/>
                </a:solidFill>
                <a:latin typeface="Microsoft YaHei"/>
              </a:rPr>
              <a:t>类 Python 脚本示例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5943600" cy="27432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764792"/>
            <a:ext cx="5724144" cy="2596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>
                <a:solidFill>
                  <a:srgbClr val="E2E8F0"/>
                </a:solidFill>
                <a:latin typeface="Consolas"/>
              </a:rPr>
              <a:t>Contract P2PKH:                          # 合约容器</a:t>
            </a:r>
          </a:p>
          <a:p>
            <a:pPr algn="l">
              <a:lnSpc>
                <a:spcPct val="118000"/>
              </a:lnSpc>
            </a:pPr>
            <a:r>
              <a:rPr sz="1300">
                <a:solidFill>
                  <a:srgbClr val="E2E8F0"/>
                </a:solidFill>
                <a:latin typeface="Consolas"/>
              </a:rPr>
              <a:t>    def verify(sig: hex,                 # 静态类型标注</a:t>
            </a:r>
          </a:p>
          <a:p>
            <a:pPr algn="l">
              <a:lnSpc>
                <a:spcPct val="118000"/>
              </a:lnSpc>
            </a:pPr>
            <a:r>
              <a:rPr sz="1300">
                <a:solidFill>
                  <a:srgbClr val="E2E8F0"/>
                </a:solidFill>
                <a:latin typeface="Consolas"/>
              </a:rPr>
              <a:t>               pubKey: hex):</a:t>
            </a:r>
          </a:p>
          <a:p>
            <a:pPr algn="l">
              <a:lnSpc>
                <a:spcPct val="118000"/>
              </a:lnSpc>
            </a:pPr>
            <a:r>
              <a:rPr sz="1300">
                <a:solidFill>
                  <a:srgbClr val="E2E8F0"/>
                </a:solidFill>
                <a:latin typeface="Consolas"/>
              </a:rPr>
              <a:t>        pubKey_copy = pubKey.Clone()</a:t>
            </a:r>
          </a:p>
          <a:p>
            <a:pPr algn="l">
              <a:lnSpc>
                <a:spcPct val="118000"/>
              </a:lnSpc>
            </a:pPr>
            <a:r>
              <a:rPr sz="1300">
                <a:solidFill>
                  <a:srgbClr val="E2E8F0"/>
                </a:solidFill>
                <a:latin typeface="Consolas"/>
              </a:rPr>
              <a:t>        pubKeyHash  = Hash160(pubKey_copy)</a:t>
            </a:r>
          </a:p>
          <a:p>
            <a:pPr algn="l">
              <a:lnSpc>
                <a:spcPct val="118000"/>
              </a:lnSpc>
            </a:pPr>
            <a:r>
              <a:rPr sz="1300">
                <a:solidFill>
                  <a:srgbClr val="E2E8F0"/>
                </a:solidFill>
                <a:latin typeface="Consolas"/>
              </a:rPr>
              <a:t>        EqualVerify(pubKeyHash,</a:t>
            </a:r>
          </a:p>
          <a:p>
            <a:pPr algn="l">
              <a:lnSpc>
                <a:spcPct val="118000"/>
              </a:lnSpc>
            </a:pPr>
            <a:r>
              <a:rPr sz="1300">
                <a:solidFill>
                  <a:srgbClr val="E2E8F0"/>
                </a:solidFill>
                <a:latin typeface="Consolas"/>
              </a:rPr>
              <a:t>                    self.pubKeyHash)     # 成员变量</a:t>
            </a:r>
          </a:p>
          <a:p>
            <a:pPr algn="l">
              <a:lnSpc>
                <a:spcPct val="118000"/>
              </a:lnSpc>
            </a:pPr>
            <a:r>
              <a:rPr sz="1300">
                <a:solidFill>
                  <a:srgbClr val="E2E8F0"/>
                </a:solidFill>
                <a:latin typeface="Consolas"/>
              </a:rPr>
              <a:t>        result = CheckSig(sig, pubKey)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2801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A4E8A"/>
                </a:solidFill>
                <a:latin typeface="Microsoft YaHei"/>
              </a:rPr>
              <a:t>前端实现要点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583680" y="1691640"/>
          <a:ext cx="51206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74904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模块</a:t>
                      </a:r>
                    </a:p>
                  </a:txBody>
                  <a:tcPr marL="73152" marR="73152" marT="36576" marB="36576">
                    <a:solidFill>
                      <a:srgbClr val="1A4E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关键设计</a:t>
                      </a:r>
                    </a:p>
                  </a:txBody>
                  <a:tcPr marL="73152" marR="73152" marT="36576" marB="36576">
                    <a:solidFill>
                      <a:srgbClr val="1A4E8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Microsoft YaHei"/>
                        </a:rPr>
                        <a:t>Lexer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Microsoft YaHei"/>
                        </a:rPr>
                        <a:t>缩进栈 → INDENT/DEDENT 替代 {}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Microsoft YaHei"/>
                        </a:rPr>
                        <a:t>Lexer</a:t>
                      </a:r>
                    </a:p>
                  </a:txBody>
                  <a:tcPr marL="73152" marR="73152" marT="36576" marB="36576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Microsoft YaHei"/>
                        </a:rPr>
                        <a:t>53 种 TokenType + 比特币地址识别</a:t>
                      </a:r>
                    </a:p>
                  </a:txBody>
                  <a:tcPr marL="73152" marR="73152" marT="36576" marB="36576">
                    <a:solidFill>
                      <a:srgbClr val="F4F6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Microsoft YaHei"/>
                        </a:rPr>
                        <a:t>Parser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Microsoft YaHei"/>
                        </a:rPr>
                        <a:t>手写递归下降，错误恢复直观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Microsoft YaHei"/>
                        </a:rPr>
                        <a:t>AST</a:t>
                      </a:r>
                    </a:p>
                  </a:txBody>
                  <a:tcPr marL="73152" marR="73152" marT="36576" marB="36576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Microsoft YaHei"/>
                        </a:rPr>
                        <a:t>Contract / Function / Struct 等节点</a:t>
                      </a:r>
                    </a:p>
                  </a:txBody>
                  <a:tcPr marL="73152" marR="73152" marT="36576" marB="36576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57200" y="45720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4E8A"/>
                </a:solidFill>
                <a:latin typeface="Microsoft YaHei"/>
              </a:rPr>
              <a:t>核心语言特性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029200"/>
            <a:ext cx="2194560" cy="12801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5029200"/>
            <a:ext cx="2194560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12064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4E8A"/>
                </a:solidFill>
                <a:latin typeface="Segoe UI"/>
              </a:rPr>
              <a:t>Contract / Library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486400"/>
            <a:ext cx="2103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F2D3D"/>
                </a:solidFill>
                <a:latin typeface="Microsoft YaHei"/>
              </a:rPr>
              <a:t>顶层容器 + import 复用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0" y="5029200"/>
            <a:ext cx="2194560" cy="12801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0" y="5029200"/>
            <a:ext cx="2194560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34640" y="512064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4E8A"/>
                </a:solidFill>
                <a:latin typeface="Segoe UI"/>
              </a:rPr>
              <a:t>Struct（嵌套）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5486400"/>
            <a:ext cx="2103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F2D3D"/>
                </a:solidFill>
                <a:latin typeface="Microsoft YaHei"/>
              </a:rPr>
              <a:t>结构体 + 定长数组字段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0" y="5029200"/>
            <a:ext cx="2194560" cy="12801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0" y="5029200"/>
            <a:ext cx="2194560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0" y="512064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4E8A"/>
                </a:solidFill>
                <a:latin typeface="Segoe UI"/>
              </a:rPr>
              <a:t>for in Range(...)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5486400"/>
            <a:ext cx="2103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F2D3D"/>
                </a:solidFill>
                <a:latin typeface="Microsoft YaHei"/>
              </a:rPr>
              <a:t>受限循环（编译期可展开）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0" y="5029200"/>
            <a:ext cx="2194560" cy="12801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0" y="5029200"/>
            <a:ext cx="2194560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06640" y="512064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4E8A"/>
                </a:solidFill>
                <a:latin typeface="Segoe UI"/>
              </a:rPr>
              <a:t>if / else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5486400"/>
            <a:ext cx="2103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F2D3D"/>
                </a:solidFill>
                <a:latin typeface="Microsoft YaHei"/>
              </a:rPr>
              <a:t>分支 + --asa 副栈控制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01200" y="5029200"/>
            <a:ext cx="2194560" cy="12801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01200" y="5029200"/>
            <a:ext cx="2194560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92640" y="512064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4E8A"/>
                </a:solidFill>
                <a:latin typeface="Segoe UI"/>
              </a:rPr>
              <a:t>Delete / Clone / move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0" y="5486400"/>
            <a:ext cx="2103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F2D3D"/>
                </a:solidFill>
                <a:latin typeface="Microsoft YaHei"/>
              </a:rPr>
              <a:t>三元所有权原语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Segoe UI"/>
              </a:rPr>
              <a:t>9 / 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465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Microsoft YaHei"/>
              </a:rPr>
              <a:t>实习汇报  ·  徐磊  ·  合肥元软软件有限公司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4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A4E8A"/>
                </a:solidFill>
                <a:latin typeface="Microsoft YaHei"/>
              </a:rPr>
              <a:t>二、论文进展  ·  解决方案（三）四层 Visitor 与所有权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64748B"/>
                </a:solidFill>
                <a:latin typeface="Microsoft YaHei"/>
              </a:rPr>
              <a:t>Semantic Analysis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70432"/>
            <a:ext cx="11247120" cy="12700"/>
          </a:xfrm>
          <a:prstGeom prst="rect">
            <a:avLst/>
          </a:prstGeom>
          <a:solidFill>
            <a:srgbClr val="CFD8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25880"/>
          <a:ext cx="1124711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577"/>
                <a:gridCol w="3570514"/>
                <a:gridCol w="4016828"/>
                <a:gridCol w="312420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#</a:t>
                      </a:r>
                    </a:p>
                  </a:txBody>
                  <a:tcPr marL="73152" marR="73152" marT="36576" marB="36576">
                    <a:solidFill>
                      <a:srgbClr val="1A4E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Visitor</a:t>
                      </a:r>
                    </a:p>
                  </a:txBody>
                  <a:tcPr marL="73152" marR="73152" marT="36576" marB="36576">
                    <a:solidFill>
                      <a:srgbClr val="1A4E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职责</a:t>
                      </a:r>
                    </a:p>
                  </a:txBody>
                  <a:tcPr marL="73152" marR="73152" marT="36576" marB="36576">
                    <a:solidFill>
                      <a:srgbClr val="1A4E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关键数据结构</a:t>
                      </a:r>
                    </a:p>
                  </a:txBody>
                  <a:tcPr marL="73152" marR="73152" marT="36576" marB="36576">
                    <a:solidFill>
                      <a:srgbClr val="1A4E8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Microsoft YaHei"/>
                        </a:rPr>
                        <a:t>①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Microsoft YaHei"/>
                        </a:rPr>
                        <a:t>CollectSymbolsVisitor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Microsoft YaHei"/>
                        </a:rPr>
                        <a:t>收集函数 / 结构体 / 库定义；唯一性检查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Microsoft YaHei"/>
                        </a:rPr>
                        <a:t>m_definedFunctions / m_structDefinitions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Microsoft YaHei"/>
                        </a:rPr>
                        <a:t>②</a:t>
                      </a:r>
                    </a:p>
                  </a:txBody>
                  <a:tcPr marL="73152" marR="73152" marT="36576" marB="36576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Microsoft YaHei"/>
                        </a:rPr>
                        <a:t>PreAnalysisVisitor  ★</a:t>
                      </a:r>
                    </a:p>
                  </a:txBody>
                  <a:tcPr marL="73152" marR="73152" marT="36576" marB="36576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Microsoft YaHei"/>
                        </a:rPr>
                        <a:t>所有权追踪 · 消耗性操作合法性 · 类型检查</a:t>
                      </a:r>
                    </a:p>
                  </a:txBody>
                  <a:tcPr marL="73152" marR="73152" marT="36576" marB="36576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Microsoft YaHei"/>
                        </a:rPr>
                        <a:t>VariableInfo + 所有权位图</a:t>
                      </a:r>
                    </a:p>
                  </a:txBody>
                  <a:tcPr marL="73152" marR="73152" marT="36576" marB="36576">
                    <a:solidFill>
                      <a:srgbClr val="F4F6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Microsoft YaHei"/>
                        </a:rPr>
                        <a:t>③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Microsoft YaHei"/>
                        </a:rPr>
                        <a:t>StaticInfoVisitor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Microsoft YaHei"/>
                        </a:rPr>
                        <a:t>产出 ABI / 构造器参数 / 结构体定义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Microsoft YaHei"/>
                        </a:rPr>
                        <a:t>m_abiJson / m_structJson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Microsoft YaHei"/>
                        </a:rPr>
                        <a:t>④</a:t>
                      </a:r>
                    </a:p>
                  </a:txBody>
                  <a:tcPr marL="73152" marR="73152" marT="36576" marB="36576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Microsoft YaHei"/>
                        </a:rPr>
                        <a:t>AstToBytecodeVisitor ★</a:t>
                      </a:r>
                    </a:p>
                  </a:txBody>
                  <a:tcPr marL="73152" marR="73152" marT="36576" marB="36576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Microsoft YaHei"/>
                        </a:rPr>
                        <a:t>遍历 AST 生成字节码；操纵符号表与 Scope</a:t>
                      </a:r>
                    </a:p>
                  </a:txBody>
                  <a:tcPr marL="73152" marR="73152" marT="36576" marB="36576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Microsoft YaHei"/>
                        </a:rPr>
                        <a:t>Scope / SymbolTable</a:t>
                      </a:r>
                    </a:p>
                  </a:txBody>
                  <a:tcPr marL="73152" marR="73152" marT="36576" marB="36576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7947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4E8A"/>
                </a:solidFill>
                <a:latin typeface="Microsoft YaHei"/>
              </a:rPr>
              <a:t>分层所有权位图  ·  栈槽粒度的静态验证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206240"/>
            <a:ext cx="6400800" cy="2103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4279392"/>
            <a:ext cx="6181344" cy="19568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>
                <a:solidFill>
                  <a:srgbClr val="E2E8F0"/>
                </a:solidFill>
                <a:latin typeface="Consolas"/>
              </a:rPr>
              <a:t>struct VariableInfo {</a:t>
            </a:r>
          </a:p>
          <a:p>
            <a:pPr algn="l">
              <a:lnSpc>
                <a:spcPct val="118000"/>
              </a:lnSpc>
            </a:pPr>
            <a:r>
              <a:rPr sz="1200">
                <a:solidFill>
                  <a:srgbClr val="E2E8F0"/>
                </a:solidFill>
                <a:latin typeface="Consolas"/>
              </a:rPr>
              <a:t>    DataSource     source;  // CONTRACT_MEMBER / CONSTANT / STACK / BUILTIN</a:t>
            </a:r>
          </a:p>
          <a:p>
            <a:pPr algn="l">
              <a:lnSpc>
                <a:spcPct val="118000"/>
              </a:lnSpc>
            </a:pPr>
            <a:r>
              <a:rPr sz="1200">
                <a:solidFill>
                  <a:srgbClr val="E2E8F0"/>
                </a:solidFill>
                <a:latin typeface="Consolas"/>
              </a:rPr>
              <a:t>    VariableState  state;   // DECLARED → USED → CONSUMED</a:t>
            </a:r>
          </a:p>
          <a:p>
            <a:pPr algn="l">
              <a:lnSpc>
                <a:spcPct val="118000"/>
              </a:lnSpc>
            </a:pPr>
            <a:r>
              <a:rPr sz="1200">
                <a:solidFill>
                  <a:srgbClr val="E2E8F0"/>
                </a:solidFill>
                <a:latin typeface="Consolas"/>
              </a:rPr>
              <a:t>    std::vector&lt;bool&gt;     elementOwnership; // 元素级位图</a:t>
            </a:r>
          </a:p>
          <a:p>
            <a:pPr algn="l">
              <a:lnSpc>
                <a:spcPct val="118000"/>
              </a:lnSpc>
            </a:pPr>
            <a:r>
              <a:rPr sz="1200">
                <a:solidFill>
                  <a:srgbClr val="E2E8F0"/>
                </a:solidFill>
                <a:latin typeface="Consolas"/>
              </a:rPr>
              <a:t>    std::map&lt;std::string,</a:t>
            </a:r>
          </a:p>
          <a:p>
            <a:pPr algn="l">
              <a:lnSpc>
                <a:spcPct val="118000"/>
              </a:lnSpc>
            </a:pPr>
            <a:r>
              <a:rPr sz="1200">
                <a:solidFill>
                  <a:srgbClr val="E2E8F0"/>
                </a:solidFill>
                <a:latin typeface="Consolas"/>
              </a:rPr>
              <a:t>             VariableState&gt; fieldOwnership; // 字段级</a:t>
            </a:r>
          </a:p>
          <a:p>
            <a:pPr algn="l">
              <a:lnSpc>
                <a:spcPct val="118000"/>
              </a:lnSpc>
            </a:pPr>
            <a:r>
              <a:rPr sz="1200">
                <a:solidFill>
                  <a:srgbClr val="E2E8F0"/>
                </a:solidFill>
                <a:latin typeface="Consolas"/>
              </a:rPr>
              <a:t>};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95160" y="4206240"/>
            <a:ext cx="4709160" cy="2103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04888" y="4279392"/>
            <a:ext cx="4489704" cy="19568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>
                <a:solidFill>
                  <a:srgbClr val="E2E8F0"/>
                </a:solidFill>
                <a:latin typeface="Consolas"/>
              </a:rPr>
              <a:t># 部分消耗合法</a:t>
            </a:r>
          </a:p>
          <a:p>
            <a:pPr algn="l">
              <a:lnSpc>
                <a:spcPct val="118000"/>
              </a:lnSpc>
            </a:pPr>
            <a:r>
              <a:rPr sz="1200">
                <a:solidFill>
                  <a:srgbClr val="E2E8F0"/>
                </a:solidFill>
                <a:latin typeface="Consolas"/>
              </a:rPr>
              <a:t>numbers: int[4] = [...]</a:t>
            </a:r>
          </a:p>
          <a:p>
            <a:pPr algn="l">
              <a:lnSpc>
                <a:spcPct val="118000"/>
              </a:lnSpc>
            </a:pPr>
            <a:r>
              <a:rPr sz="1200">
                <a:solidFill>
                  <a:srgbClr val="E2E8F0"/>
                </a:solidFill>
                <a:latin typeface="Consolas"/>
              </a:rPr>
              <a:t>a = move(numbers[0])    # 元素 0 → CONSUMED</a:t>
            </a:r>
          </a:p>
          <a:p>
            <a:pPr algn="l">
              <a:lnSpc>
                <a:spcPct val="118000"/>
              </a:lnSpc>
            </a:pPr>
            <a:r>
              <a:rPr sz="1200">
                <a:solidFill>
                  <a:srgbClr val="E2E8F0"/>
                </a:solidFill>
                <a:latin typeface="Consolas"/>
              </a:rPr>
              <a:t>b = numbers[1].Clone()  # 元素 1 仍 USED</a:t>
            </a:r>
          </a:p>
          <a:p>
            <a:pPr algn="l">
              <a:lnSpc>
                <a:spcPct val="118000"/>
              </a:lnSpc>
            </a:pPr>
            <a:r>
              <a:rPr sz="1200">
                <a:solidFill>
                  <a:srgbClr val="E2E8F0"/>
                </a:solidFill>
                <a:latin typeface="Consolas"/>
              </a:rPr>
              <a:t>c = move(numbers[2])    # 元素 2 → CONSUMED</a:t>
            </a:r>
          </a:p>
          <a:p>
            <a:pPr algn="l">
              <a:lnSpc>
                <a:spcPct val="118000"/>
              </a:lnSpc>
            </a:pPr>
            <a:r>
              <a:rPr sz="1200">
                <a:solidFill>
                  <a:srgbClr val="E2E8F0"/>
                </a:solidFill>
                <a:latin typeface="Consolas"/>
              </a:rPr>
              <a:t># numbers[1], numbers[3] 仍可用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Segoe UI"/>
              </a:rPr>
              <a:t>10 / 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Microsoft YaHei"/>
              </a:rPr>
              <a:t>实习汇报  ·  徐磊  ·  合肥元软软件有限公司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4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A4E8A"/>
                </a:solidFill>
                <a:latin typeface="Microsoft YaHei"/>
              </a:rPr>
              <a:t>二、论文进展  ·  解决方案（四）双栈模型与零成本重命名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64748B"/>
                </a:solidFill>
                <a:latin typeface="Microsoft YaHei"/>
              </a:rPr>
              <a:t>Dual-Stack VM  +  Zero-cost Renaming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70432"/>
            <a:ext cx="11247120" cy="12700"/>
          </a:xfrm>
          <a:prstGeom prst="rect">
            <a:avLst/>
          </a:prstGeom>
          <a:solidFill>
            <a:srgbClr val="CFD8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11247120" cy="13716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53312"/>
            <a:ext cx="11027664" cy="1225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>
                <a:solidFill>
                  <a:srgbClr val="E2E8F0"/>
                </a:solidFill>
                <a:latin typeface="Consolas"/>
              </a:rPr>
              <a:t>  ┌─────── Main Stack ────────┐              ┌────── Alt Stack ──────┐</a:t>
            </a:r>
          </a:p>
          <a:p>
            <a:pPr algn="l">
              <a:lnSpc>
                <a:spcPct val="118000"/>
              </a:lnSpc>
            </a:pPr>
            <a:r>
              <a:rPr sz="1300">
                <a:solidFill>
                  <a:srgbClr val="E2E8F0"/>
                </a:solidFill>
                <a:latin typeface="Consolas"/>
              </a:rPr>
              <a:t>  │  top → [D][C][B][A] ← bot │   ←─────→    │  top → [X][Y]         │</a:t>
            </a:r>
          </a:p>
          <a:p>
            <a:pPr algn="l">
              <a:lnSpc>
                <a:spcPct val="118000"/>
              </a:lnSpc>
            </a:pPr>
            <a:r>
              <a:rPr sz="1300">
                <a:solidFill>
                  <a:srgbClr val="E2E8F0"/>
                </a:solidFill>
                <a:latin typeface="Consolas"/>
              </a:rPr>
              <a:t>  └───────────────────────────┘              └───────────────────────┘</a:t>
            </a:r>
          </a:p>
          <a:p>
            <a:pPr algn="l">
              <a:lnSpc>
                <a:spcPct val="118000"/>
              </a:lnSpc>
            </a:pPr>
            <a:r>
              <a:rPr sz="1300">
                <a:solidFill>
                  <a:srgbClr val="E2E8F0"/>
                </a:solidFill>
                <a:latin typeface="Consolas"/>
              </a:rPr>
              <a:t>       OP_ROLL / OP_PICK                          OP_TOALTSTACK / OP_FROMALTSTACK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889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4E8A"/>
                </a:solidFill>
                <a:latin typeface="Microsoft YaHei"/>
              </a:rPr>
              <a:t>双栈高层原语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3200400"/>
          <a:ext cx="5943599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103119"/>
                <a:gridCol w="2011680"/>
              </a:tblGrid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原语</a:t>
                      </a:r>
                    </a:p>
                  </a:txBody>
                  <a:tcPr marL="73152" marR="73152" marT="36576" marB="36576">
                    <a:solidFill>
                      <a:srgbClr val="1A4E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语义</a:t>
                      </a:r>
                    </a:p>
                  </a:txBody>
                  <a:tcPr marL="73152" marR="73152" marT="36576" marB="36576">
                    <a:solidFill>
                      <a:srgbClr val="1A4E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字节码</a:t>
                      </a:r>
                    </a:p>
                  </a:txBody>
                  <a:tcPr marL="73152" marR="73152" marT="36576" marB="36576">
                    <a:solidFill>
                      <a:srgbClr val="1A4E8A"/>
                    </a:solidFill>
                  </a:tcPr>
                </a:tc>
              </a:tr>
              <a:tr h="44577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Microsoft YaHei"/>
                        </a:rPr>
                        <a:t>SetAlt(x)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Microsoft YaHei"/>
                        </a:rPr>
                        <a:t>主栈 → 副栈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Microsoft YaHei"/>
                        </a:rPr>
                        <a:t>OP_TOALTSTACK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Microsoft YaHei"/>
                        </a:rPr>
                        <a:t>SetMain(x)</a:t>
                      </a:r>
                    </a:p>
                  </a:txBody>
                  <a:tcPr marL="73152" marR="73152" marT="36576" marB="36576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Microsoft YaHei"/>
                        </a:rPr>
                        <a:t>副栈 → 主栈</a:t>
                      </a:r>
                    </a:p>
                  </a:txBody>
                  <a:tcPr marL="73152" marR="73152" marT="36576" marB="36576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Microsoft YaHei"/>
                        </a:rPr>
                        <a:t>OP_FROMALTSTACK</a:t>
                      </a:r>
                    </a:p>
                  </a:txBody>
                  <a:tcPr marL="73152" marR="73152" marT="36576" marB="36576">
                    <a:solidFill>
                      <a:srgbClr val="F4F6FA"/>
                    </a:solidFill>
                  </a:tcPr>
                </a:tc>
              </a:tr>
              <a:tr h="44577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Microsoft YaHei"/>
                        </a:rPr>
                        <a:t>Keep(x)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Microsoft YaHei"/>
                        </a:rPr>
                        <a:t>原子保留副本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D3D"/>
                          </a:solidFill>
                          <a:latin typeface="Microsoft YaHei"/>
                        </a:rPr>
                        <a:t>OP_DUP+OP_TOALTSTACK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583680" y="27889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4E8A"/>
                </a:solidFill>
                <a:latin typeface="Microsoft YaHei"/>
              </a:rPr>
              <a:t>零成本重命名 · 字节码节省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3200400"/>
            <a:ext cx="5120640" cy="17830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93408" y="3273552"/>
            <a:ext cx="4901184" cy="1636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>
                <a:solidFill>
                  <a:srgbClr val="E2E8F0"/>
                </a:solidFill>
                <a:latin typeface="Consolas"/>
              </a:rPr>
              <a:t>first  = numbers[0]   # 0 字节码</a:t>
            </a:r>
          </a:p>
          <a:p>
            <a:pPr algn="l">
              <a:lnSpc>
                <a:spcPct val="118000"/>
              </a:lnSpc>
            </a:pPr>
            <a:r>
              <a:rPr sz="1100">
                <a:solidFill>
                  <a:srgbClr val="E2E8F0"/>
                </a:solidFill>
                <a:latin typeface="Consolas"/>
              </a:rPr>
              <a:t>second = numbers[1]   # 0 字节码</a:t>
            </a:r>
          </a:p>
          <a:p>
            <a:pPr algn="l">
              <a:lnSpc>
                <a:spcPct val="118000"/>
              </a:lnSpc>
            </a:pPr>
            <a:r>
              <a:rPr sz="1100">
                <a:solidFill>
                  <a:srgbClr val="E2E8F0"/>
                </a:solidFill>
                <a:latin typeface="Consolas"/>
              </a:rPr>
              <a:t>return first + second # 1 字节码</a:t>
            </a:r>
          </a:p>
          <a:p>
            <a:pPr algn="l">
              <a:lnSpc>
                <a:spcPct val="118000"/>
              </a:lnSpc>
            </a:pP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</a:p>
          <a:p>
            <a:pPr algn="l">
              <a:lnSpc>
                <a:spcPct val="118000"/>
              </a:lnSpc>
            </a:pPr>
            <a:r>
              <a:rPr sz="1100">
                <a:solidFill>
                  <a:srgbClr val="E2E8F0"/>
                </a:solidFill>
                <a:latin typeface="Consolas"/>
              </a:rPr>
              <a:t>传统：52 79 51 79 52 7a 52 7a 93  (9B)</a:t>
            </a:r>
          </a:p>
          <a:p>
            <a:pPr algn="l">
              <a:lnSpc>
                <a:spcPct val="118000"/>
              </a:lnSpc>
            </a:pPr>
            <a:r>
              <a:rPr sz="1100">
                <a:solidFill>
                  <a:srgbClr val="E2E8F0"/>
                </a:solidFill>
                <a:latin typeface="Consolas"/>
              </a:rPr>
              <a:t>本方案： 52 7a 52 7a 93  (5B  -44%)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212080"/>
            <a:ext cx="11247120" cy="1143000"/>
          </a:xfrm>
          <a:prstGeom prst="rect">
            <a:avLst/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5212080"/>
            <a:ext cx="73152" cy="1143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303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4E8A"/>
                </a:solidFill>
                <a:latin typeface="Microsoft YaHei"/>
              </a:rPr>
              <a:t>核心洞察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6692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1F2D3D"/>
                </a:solidFill>
                <a:latin typeface="Microsoft YaHei"/>
              </a:rPr>
              <a:t>变量名只是栈位置的标签；赋值不复制数据，只重命名标签。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1F2D3D"/>
                </a:solidFill>
                <a:latin typeface="Microsoft YaHei"/>
              </a:rPr>
              <a:t>在代表性合约上字节码体积平均下降 ~44%，直接对应链上手续费降低。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Segoe UI"/>
              </a:rPr>
              <a:t>11 / 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Microsoft YaHei"/>
              </a:rPr>
              <a:t>实习汇报  ·  徐磊  ·  合肥元软软件有限公司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4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A4E8A"/>
                </a:solidFill>
                <a:latin typeface="Microsoft YaHei"/>
              </a:rPr>
              <a:t>二、论文进展  ·  解决方案（五）交互式解释器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64748B"/>
                </a:solidFill>
                <a:latin typeface="Microsoft YaHei"/>
              </a:rPr>
              <a:t>BVM Simulator  +  CLI Debugger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70432"/>
            <a:ext cx="11247120" cy="12700"/>
          </a:xfrm>
          <a:prstGeom prst="rect">
            <a:avLst/>
          </a:prstGeom>
          <a:solidFill>
            <a:srgbClr val="CFD8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4E8A"/>
                </a:solidFill>
                <a:latin typeface="Microsoft YaHei"/>
              </a:rPr>
              <a:t>BVM 模拟器  ·  执行核心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5760720" cy="23774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764792"/>
            <a:ext cx="5541264" cy="2231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>
                <a:solidFill>
                  <a:srgbClr val="E2E8F0"/>
                </a:solidFill>
                <a:latin typeface="Consolas"/>
              </a:rPr>
              <a:t>class BVMSimulator {</a:t>
            </a:r>
          </a:p>
          <a:p>
            <a:pPr algn="l">
              <a:lnSpc>
                <a:spcPct val="118000"/>
              </a:lnSpc>
            </a:pPr>
            <a:r>
              <a:rPr sz="1100">
                <a:solidFill>
                  <a:srgbClr val="E2E8F0"/>
                </a:solidFill>
                <a:latin typeface="Consolas"/>
              </a:rPr>
              <a:t>    stack&lt;StackItem&gt;  mainStack, altStack;</a:t>
            </a:r>
          </a:p>
          <a:p>
            <a:pPr algn="l">
              <a:lnSpc>
                <a:spcPct val="118000"/>
              </a:lnSpc>
            </a:pPr>
            <a:r>
              <a:rPr sz="1100">
                <a:solidFill>
                  <a:srgbClr val="E2E8F0"/>
                </a:solidFill>
                <a:latin typeface="Consolas"/>
              </a:rPr>
              <a:t>    vector&lt;CallFrame&gt; callStack;</a:t>
            </a:r>
          </a:p>
          <a:p>
            <a:pPr algn="l">
              <a:lnSpc>
                <a:spcPct val="118000"/>
              </a:lnSpc>
            </a:pPr>
            <a:r>
              <a:rPr sz="1100">
                <a:solidFill>
                  <a:srgbClr val="E2E8F0"/>
                </a:solidFill>
                <a:latin typeface="Consolas"/>
              </a:rPr>
              <a:t>    size_t            pc;</a:t>
            </a:r>
          </a:p>
          <a:p>
            <a:pPr algn="l">
              <a:lnSpc>
                <a:spcPct val="118000"/>
              </a:lnSpc>
            </a:pPr>
            <a:r>
              <a:rPr sz="1100">
                <a:solidFill>
                  <a:srgbClr val="E2E8F0"/>
                </a:solidFill>
                <a:latin typeface="Consolas"/>
              </a:rPr>
              <a:t>    ExecutionState    state;   // READY/RUNNING</a:t>
            </a:r>
          </a:p>
          <a:p>
            <a:pPr algn="l">
              <a:lnSpc>
                <a:spcPct val="118000"/>
              </a:lnSpc>
            </a:pPr>
            <a:r>
              <a:rPr sz="1100">
                <a:solidFill>
                  <a:srgbClr val="E2E8F0"/>
                </a:solidFill>
                <a:latin typeface="Consolas"/>
              </a:rPr>
              <a:t>                               // PAUSED/FINISHED/ERROR</a:t>
            </a:r>
          </a:p>
          <a:p>
            <a:pPr algn="l">
              <a:lnSpc>
                <a:spcPct val="118000"/>
              </a:lnSpc>
            </a:pPr>
            <a:r>
              <a:rPr sz="1100">
                <a:solidFill>
                  <a:srgbClr val="E2E8F0"/>
                </a:solidFill>
                <a:latin typeface="Consolas"/>
              </a:rPr>
              <a:t>    void step();      // 单步</a:t>
            </a:r>
          </a:p>
          <a:p>
            <a:pPr algn="l">
              <a:lnSpc>
                <a:spcPct val="118000"/>
              </a:lnSpc>
            </a:pPr>
            <a:r>
              <a:rPr sz="1100">
                <a:solidFill>
                  <a:srgbClr val="E2E8F0"/>
                </a:solidFill>
                <a:latin typeface="Consolas"/>
              </a:rPr>
              <a:t>    void run();       // 直至断点</a:t>
            </a:r>
          </a:p>
          <a:p>
            <a:pPr algn="l">
              <a:lnSpc>
                <a:spcPct val="118000"/>
              </a:lnSpc>
            </a:pPr>
            <a:r>
              <a:rPr sz="1100">
                <a:solidFill>
                  <a:srgbClr val="E2E8F0"/>
                </a:solidFill>
                <a:latin typeface="Consolas"/>
              </a:rPr>
              <a:t>    void onBreakpoint(Breakpoint&amp;);</a:t>
            </a:r>
          </a:p>
          <a:p>
            <a:pPr algn="l">
              <a:lnSpc>
                <a:spcPct val="118000"/>
              </a:lnSpc>
            </a:pPr>
            <a:r>
              <a:rPr sz="1100">
                <a:solidFill>
                  <a:srgbClr val="E2E8F0"/>
                </a:solidFill>
                <a:latin typeface="Consolas"/>
              </a:rPr>
              <a:t>};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28016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4E8A"/>
                </a:solidFill>
                <a:latin typeface="Microsoft YaHei"/>
              </a:rPr>
              <a:t>CLI 调试器  ·  会话样例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691640"/>
            <a:ext cx="5303520" cy="23774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1764792"/>
            <a:ext cx="5084064" cy="2231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>
                <a:solidFill>
                  <a:srgbClr val="E2E8F0"/>
                </a:solidFill>
                <a:latin typeface="Consolas"/>
              </a:rPr>
              <a:t>$ apc --debug test/p2pkh.ct</a:t>
            </a:r>
          </a:p>
          <a:p>
            <a:pPr algn="l">
              <a:lnSpc>
                <a:spcPct val="118000"/>
              </a:lnSpc>
            </a:pPr>
            <a:r>
              <a:rPr sz="1100">
                <a:solidFill>
                  <a:srgbClr val="E2E8F0"/>
                </a:solidFill>
                <a:latin typeface="Consolas"/>
              </a:rPr>
              <a:t>(apc) break verify:12</a:t>
            </a:r>
          </a:p>
          <a:p>
            <a:pPr algn="l">
              <a:lnSpc>
                <a:spcPct val="118000"/>
              </a:lnSpc>
            </a:pPr>
            <a:r>
              <a:rPr sz="1100">
                <a:solidFill>
                  <a:srgbClr val="E2E8F0"/>
                </a:solidFill>
                <a:latin typeface="Consolas"/>
              </a:rPr>
              <a:t>(apc) run</a:t>
            </a:r>
          </a:p>
          <a:p>
            <a:pPr algn="l">
              <a:lnSpc>
                <a:spcPct val="118000"/>
              </a:lnSpc>
            </a:pPr>
            <a:r>
              <a:rPr sz="1100">
                <a:solidFill>
                  <a:srgbClr val="E2E8F0"/>
                </a:solidFill>
                <a:latin typeface="Consolas"/>
              </a:rPr>
              <a:t>[paused] p2pkh.ct:12  EqualVerify(...)</a:t>
            </a:r>
          </a:p>
          <a:p>
            <a:pPr algn="l">
              <a:lnSpc>
                <a:spcPct val="118000"/>
              </a:lnSpc>
            </a:pPr>
            <a:r>
              <a:rPr sz="1100">
                <a:solidFill>
                  <a:srgbClr val="E2E8F0"/>
                </a:solidFill>
                <a:latin typeface="Consolas"/>
              </a:rPr>
              <a:t>(apc) print pubKeyHash</a:t>
            </a:r>
          </a:p>
          <a:p>
            <a:pPr algn="l">
              <a:lnSpc>
                <a:spcPct val="118000"/>
              </a:lnSpc>
            </a:pPr>
            <a:r>
              <a:rPr sz="1100">
                <a:solidFill>
                  <a:srgbClr val="E2E8F0"/>
                </a:solidFill>
                <a:latin typeface="Consolas"/>
              </a:rPr>
              <a:t>  → 0x89abcdef...</a:t>
            </a:r>
          </a:p>
          <a:p>
            <a:pPr algn="l">
              <a:lnSpc>
                <a:spcPct val="118000"/>
              </a:lnSpc>
            </a:pPr>
            <a:r>
              <a:rPr sz="1100">
                <a:solidFill>
                  <a:srgbClr val="E2E8F0"/>
                </a:solidFill>
                <a:latin typeface="Consolas"/>
              </a:rPr>
              <a:t>(apc) stack</a:t>
            </a:r>
          </a:p>
          <a:p>
            <a:pPr algn="l">
              <a:lnSpc>
                <a:spcPct val="118000"/>
              </a:lnSpc>
            </a:pPr>
            <a:r>
              <a:rPr sz="1100">
                <a:solidFill>
                  <a:srgbClr val="E2E8F0"/>
                </a:solidFill>
                <a:latin typeface="Consolas"/>
              </a:rPr>
              <a:t>(apc) step-over</a:t>
            </a:r>
          </a:p>
          <a:p>
            <a:pPr algn="l">
              <a:lnSpc>
                <a:spcPct val="118000"/>
              </a:lnSpc>
            </a:pPr>
            <a:r>
              <a:rPr sz="1100">
                <a:solidFill>
                  <a:srgbClr val="E2E8F0"/>
                </a:solidFill>
                <a:latin typeface="Consolas"/>
              </a:rPr>
              <a:t>(apc) backtrace</a:t>
            </a:r>
          </a:p>
          <a:p>
            <a:pPr algn="l">
              <a:lnSpc>
                <a:spcPct val="118000"/>
              </a:lnSpc>
            </a:pPr>
            <a:r>
              <a:rPr sz="1100">
                <a:solidFill>
                  <a:srgbClr val="E2E8F0"/>
                </a:solidFill>
                <a:latin typeface="Consolas"/>
              </a:rPr>
              <a:t>(apc) continue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06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4E8A"/>
                </a:solidFill>
                <a:latin typeface="Microsoft YaHei"/>
              </a:rPr>
              <a:t>调试器六大子模块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617720"/>
            <a:ext cx="3657600" cy="7772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617720"/>
            <a:ext cx="73152" cy="777240"/>
          </a:xfrm>
          <a:prstGeom prst="rect">
            <a:avLst/>
          </a:prstGeom>
          <a:solidFill>
            <a:srgbClr val="1A4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69087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4E8A"/>
                </a:solidFill>
                <a:latin typeface="Consolas"/>
              </a:rPr>
              <a:t>core/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469087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A6DB0"/>
                </a:solidFill>
                <a:latin typeface="Segoe UI"/>
              </a:rPr>
              <a:t>DebuggerCore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001768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F2D3D"/>
                </a:solidFill>
                <a:latin typeface="Microsoft YaHei"/>
              </a:rPr>
              <a:t>编译入口 + 调试信息加载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1960" y="4617720"/>
            <a:ext cx="3657600" cy="7772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51960" y="4617720"/>
            <a:ext cx="73152" cy="777240"/>
          </a:xfrm>
          <a:prstGeom prst="rect">
            <a:avLst/>
          </a:prstGeom>
          <a:solidFill>
            <a:srgbClr val="1A4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40" y="469087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4E8A"/>
                </a:solidFill>
                <a:latin typeface="Consolas"/>
              </a:rPr>
              <a:t>vm/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469087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A6DB0"/>
                </a:solidFill>
                <a:latin typeface="Segoe UI"/>
              </a:rPr>
              <a:t>BVMSimulator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5001768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F2D3D"/>
                </a:solidFill>
                <a:latin typeface="Microsoft YaHei"/>
              </a:rPr>
              <a:t>双栈执行模拟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46720" y="4617720"/>
            <a:ext cx="3657600" cy="7772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46720" y="4617720"/>
            <a:ext cx="73152" cy="777240"/>
          </a:xfrm>
          <a:prstGeom prst="rect">
            <a:avLst/>
          </a:prstGeom>
          <a:solidFill>
            <a:srgbClr val="1A4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469087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4E8A"/>
                </a:solidFill>
                <a:latin typeface="Consolas"/>
              </a:rPr>
              <a:t>info/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0" y="469087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A6DB0"/>
                </a:solidFill>
                <a:latin typeface="Segoe UI"/>
              </a:rPr>
              <a:t>DebugInfo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5001768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F2D3D"/>
                </a:solidFill>
                <a:latin typeface="Microsoft YaHei"/>
              </a:rPr>
              <a:t>源码 ↔ PC ↔ 变量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486400"/>
            <a:ext cx="3657600" cy="7772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5486400"/>
            <a:ext cx="73152" cy="777240"/>
          </a:xfrm>
          <a:prstGeom prst="rect">
            <a:avLst/>
          </a:prstGeom>
          <a:solidFill>
            <a:srgbClr val="1A4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5595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4E8A"/>
                </a:solidFill>
                <a:latin typeface="Consolas"/>
              </a:rPr>
              <a:t>breakpoint/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0" y="55595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A6DB0"/>
                </a:solidFill>
                <a:latin typeface="Segoe UI"/>
              </a:rPr>
              <a:t>BPManager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870448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F2D3D"/>
                </a:solidFill>
                <a:latin typeface="Microsoft YaHei"/>
              </a:rPr>
              <a:t>行 / 条件 / 命中计数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51960" y="5486400"/>
            <a:ext cx="3657600" cy="7772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51960" y="5486400"/>
            <a:ext cx="73152" cy="777240"/>
          </a:xfrm>
          <a:prstGeom prst="rect">
            <a:avLst/>
          </a:prstGeom>
          <a:solidFill>
            <a:srgbClr val="1A4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34840" y="55595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4E8A"/>
                </a:solidFill>
                <a:latin typeface="Consolas"/>
              </a:rPr>
              <a:t>inspector/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80760" y="55595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A6DB0"/>
                </a:solidFill>
                <a:latin typeface="Segoe UI"/>
              </a:rPr>
              <a:t>Inspector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34840" y="5870448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F2D3D"/>
                </a:solidFill>
                <a:latin typeface="Microsoft YaHei"/>
              </a:rPr>
              <a:t>变量还原 / 表达式求值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46720" y="5486400"/>
            <a:ext cx="3657600" cy="7772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46720" y="5486400"/>
            <a:ext cx="73152" cy="777240"/>
          </a:xfrm>
          <a:prstGeom prst="rect">
            <a:avLst/>
          </a:prstGeom>
          <a:solidFill>
            <a:srgbClr val="1A4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0" y="55595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4E8A"/>
                </a:solidFill>
                <a:latin typeface="Consolas"/>
              </a:rPr>
              <a:t>interface/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75520" y="55595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A6DB0"/>
                </a:solidFill>
                <a:latin typeface="Segoe UI"/>
              </a:rPr>
              <a:t>CliDebugger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0" y="5870448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F2D3D"/>
                </a:solidFill>
                <a:latin typeface="Microsoft YaHei"/>
              </a:rPr>
              <a:t>REPL 命令循环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Segoe UI"/>
              </a:rPr>
              <a:t>12 / 16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465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Microsoft YaHei"/>
              </a:rPr>
              <a:t>实习汇报  ·  徐磊  ·  合肥元软软件有限公司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4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A4E8A"/>
                </a:solidFill>
                <a:latin typeface="Microsoft YaHei"/>
              </a:rPr>
              <a:t>二、论文进展  ·  技术难点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64748B"/>
                </a:solidFill>
                <a:latin typeface="Microsoft YaHei"/>
              </a:rPr>
              <a:t>Key Technical Challenges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70432"/>
            <a:ext cx="11247120" cy="12700"/>
          </a:xfrm>
          <a:prstGeom prst="rect">
            <a:avLst/>
          </a:prstGeom>
          <a:solidFill>
            <a:srgbClr val="CFD8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11247120" cy="1207008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25880"/>
            <a:ext cx="777240" cy="1207008"/>
          </a:xfrm>
          <a:prstGeom prst="rect">
            <a:avLst/>
          </a:prstGeom>
          <a:solidFill>
            <a:srgbClr val="1A4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09928"/>
            <a:ext cx="777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</a:rPr>
              <a:t>D1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399032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A4E8A"/>
                </a:solidFill>
                <a:latin typeface="Microsoft YaHei"/>
              </a:rPr>
              <a:t>栈槽粒度的所有权静态验证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1709928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F2D3D"/>
                </a:solidFill>
                <a:latin typeface="Microsoft YaHei"/>
              </a:rPr>
              <a:t>栈式 VM 中操作消耗栈顶元素，必须在编译期识别 use-after-consume；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1F2D3D"/>
                </a:solidFill>
                <a:latin typeface="Microsoft YaHei"/>
              </a:rPr>
              <a:t>需在 数组级 / 元素级 / 字段级 三个层级上独立追踪状态，且组合规则复杂。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21284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C9A227"/>
                </a:solidFill>
                <a:latin typeface="Microsoft YaHei"/>
              </a:rPr>
              <a:t>→  采用 三态状态机 + 多层位图，构成 PreAnalysisVisitor 的核心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624328"/>
            <a:ext cx="11247120" cy="1207008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624328"/>
            <a:ext cx="777240" cy="1207008"/>
          </a:xfrm>
          <a:prstGeom prst="rect">
            <a:avLst/>
          </a:prstGeom>
          <a:solidFill>
            <a:srgbClr val="1A4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008376"/>
            <a:ext cx="777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</a:rPr>
              <a:t>D2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26974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A4E8A"/>
                </a:solidFill>
                <a:latin typeface="Microsoft YaHei"/>
              </a:rPr>
              <a:t>结构化控制流到双栈的映射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008376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F2D3D"/>
                </a:solidFill>
                <a:latin typeface="Microsoft YaHei"/>
              </a:rPr>
              <a:t>if / else / for 等分支后必须保持 主栈 + 副栈 的双重平衡；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1F2D3D"/>
                </a:solidFill>
                <a:latin typeface="Microsoft YaHei"/>
              </a:rPr>
              <a:t>副栈在子作用域使用易破坏全局栈不变量。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511296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C9A227"/>
                </a:solidFill>
                <a:latin typeface="Microsoft YaHei"/>
              </a:rPr>
              <a:t>→  默认禁用子作用域 SetAlt（--asa 显式开启），形式化证明栈平衡性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922776"/>
            <a:ext cx="11247120" cy="1207008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922776"/>
            <a:ext cx="777240" cy="1207008"/>
          </a:xfrm>
          <a:prstGeom prst="rect">
            <a:avLst/>
          </a:prstGeom>
          <a:solidFill>
            <a:srgbClr val="1A4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306824"/>
            <a:ext cx="777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</a:rPr>
              <a:t>D3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399592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A4E8A"/>
                </a:solidFill>
                <a:latin typeface="Microsoft YaHei"/>
              </a:rPr>
              <a:t>「变量 = 标签」与栈顶执行的协调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306824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F2D3D"/>
                </a:solidFill>
                <a:latin typeface="Microsoft YaHei"/>
              </a:rPr>
              <a:t>栈顶先出与命名访问的语义鸿沟：何时必须 OP_ROLL，何时仅重命名？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1F2D3D"/>
                </a:solidFill>
                <a:latin typeface="Microsoft YaHei"/>
              </a:rPr>
              <a:t>误判将导致字节码膨胀或栈错位。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809744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C9A227"/>
                </a:solidFill>
                <a:latin typeface="Microsoft YaHei"/>
              </a:rPr>
              <a:t>→  Scope::getPos() + roll() 仅在跨位置时插入指令，否则零成本重命名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221224"/>
            <a:ext cx="11247120" cy="1207008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5221224"/>
            <a:ext cx="777240" cy="1207008"/>
          </a:xfrm>
          <a:prstGeom prst="rect">
            <a:avLst/>
          </a:prstGeom>
          <a:solidFill>
            <a:srgbClr val="1A4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605272"/>
            <a:ext cx="777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</a:rPr>
              <a:t>D4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5294376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A4E8A"/>
                </a:solidFill>
                <a:latin typeface="Microsoft YaHei"/>
              </a:rPr>
              <a:t>双栈 VM 的源码级调试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5605272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F2D3D"/>
                </a:solidFill>
                <a:latin typeface="Microsoft YaHei"/>
              </a:rPr>
              <a:t>VM 仅可观测指令流；要在断点处还原源码变量与表达式值，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1F2D3D"/>
                </a:solidFill>
                <a:latin typeface="Microsoft YaHei"/>
              </a:rPr>
              <a:t>需建立 源码行 ↔ PC ↔ 变量名 ↔ 栈位置 四元映射。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610819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C9A227"/>
                </a:solidFill>
                <a:latin typeface="Microsoft YaHei"/>
              </a:rPr>
              <a:t>→  字节码生成同步产出 DebugInfo，配合 Inspector + Evaluator 实现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Segoe UI"/>
              </a:rPr>
              <a:t>13 / 16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465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Microsoft YaHei"/>
              </a:rPr>
              <a:t>实习汇报  ·  徐磊  ·  合肥元软软件有限公司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4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A4E8A"/>
                </a:solidFill>
                <a:latin typeface="Microsoft YaHei"/>
              </a:rPr>
              <a:t>二、论文进展  ·  特色与创新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64748B"/>
                </a:solidFill>
                <a:latin typeface="Microsoft YaHei"/>
              </a:rPr>
              <a:t>Features &amp; Innovations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70432"/>
            <a:ext cx="11247120" cy="12700"/>
          </a:xfrm>
          <a:prstGeom prst="rect">
            <a:avLst/>
          </a:prstGeom>
          <a:solidFill>
            <a:srgbClr val="CFD8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A4E8A"/>
                </a:solidFill>
                <a:latin typeface="Microsoft YaHei"/>
              </a:rPr>
              <a:t>研究特色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1371600" cy="36576"/>
          </a:xfrm>
          <a:prstGeom prst="rect">
            <a:avLst/>
          </a:prstGeom>
          <a:solidFill>
            <a:srgbClr val="1A4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874519"/>
            <a:ext cx="5760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2A6DB0"/>
                </a:solidFill>
                <a:latin typeface="Segoe UI"/>
              </a:rPr>
              <a:t>● </a:t>
            </a:r>
            <a:r>
              <a:rPr sz="1300">
                <a:solidFill>
                  <a:srgbClr val="1F2D3D"/>
                </a:solidFill>
                <a:latin typeface="Microsoft YaHei"/>
              </a:rPr>
              <a:t>端到端工具链 —— 语言、编译器、虚拟机、调试器一体化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2A6DB0"/>
                </a:solidFill>
                <a:latin typeface="Segoe UI"/>
              </a:rPr>
              <a:t>● </a:t>
            </a:r>
            <a:r>
              <a:rPr sz="1300">
                <a:solidFill>
                  <a:srgbClr val="1F2D3D"/>
                </a:solidFill>
                <a:latin typeface="Microsoft YaHei"/>
              </a:rPr>
              <a:t>面向真实 VM —— 比特币脚本标准，结果可直接上链验证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2A6DB0"/>
                </a:solidFill>
                <a:latin typeface="Segoe UI"/>
              </a:rPr>
              <a:t>● </a:t>
            </a:r>
            <a:r>
              <a:rPr sz="1300">
                <a:solidFill>
                  <a:srgbClr val="1F2D3D"/>
                </a:solidFill>
                <a:latin typeface="Microsoft YaHei"/>
              </a:rPr>
              <a:t>理论与工程并重 —— 形式化规则 + 可复现开源实现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28016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A4E8A"/>
                </a:solidFill>
                <a:latin typeface="Microsoft YaHei"/>
              </a:rPr>
              <a:t>四大创新点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645920"/>
            <a:ext cx="1371600" cy="36576"/>
          </a:xfrm>
          <a:prstGeom prst="rect">
            <a:avLst/>
          </a:prstGeom>
          <a:solidFill>
            <a:srgbClr val="1A4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874519"/>
            <a:ext cx="5303520" cy="713232"/>
          </a:xfrm>
          <a:prstGeom prst="rect">
            <a:avLst/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874519"/>
            <a:ext cx="640080" cy="71323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075687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C1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947671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A4E8A"/>
                </a:solidFill>
                <a:latin typeface="Microsoft YaHei"/>
              </a:rPr>
              <a:t>面向栈槽的分层所有权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2258567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F2D3D"/>
                </a:solidFill>
                <a:latin typeface="Microsoft YaHei"/>
              </a:rPr>
              <a:t>首次将线性类型细化到 栈元素粒度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2633471"/>
            <a:ext cx="5303520" cy="713232"/>
          </a:xfrm>
          <a:prstGeom prst="rect">
            <a:avLst/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2633471"/>
            <a:ext cx="640080" cy="71323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834639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C2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2706623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A4E8A"/>
                </a:solidFill>
                <a:latin typeface="Microsoft YaHei"/>
              </a:rPr>
              <a:t>零成本重命名模型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017519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F2D3D"/>
                </a:solidFill>
                <a:latin typeface="Microsoft YaHei"/>
              </a:rPr>
              <a:t>字节码节省  ~44%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3392423"/>
            <a:ext cx="5303520" cy="713232"/>
          </a:xfrm>
          <a:prstGeom prst="rect">
            <a:avLst/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0" y="3392423"/>
            <a:ext cx="640080" cy="71323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593591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C3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3465575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A4E8A"/>
                </a:solidFill>
                <a:latin typeface="Microsoft YaHei"/>
              </a:rPr>
              <a:t>双栈高层原语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3776471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F2D3D"/>
                </a:solidFill>
                <a:latin typeface="Microsoft YaHei"/>
              </a:rPr>
              <a:t>SetAlt / SetMain / Keep 抽象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4151375"/>
            <a:ext cx="5303520" cy="713232"/>
          </a:xfrm>
          <a:prstGeom prst="rect">
            <a:avLst/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0" y="4151375"/>
            <a:ext cx="640080" cy="71323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4352543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C4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4224527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A4E8A"/>
                </a:solidFill>
                <a:latin typeface="Microsoft YaHei"/>
              </a:rPr>
              <a:t>双栈 VM 上的源码级调试器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78040" y="4535423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F2D3D"/>
                </a:solidFill>
                <a:latin typeface="Microsoft YaHei"/>
              </a:rPr>
              <a:t>填补该领域工具空白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983480"/>
            <a:ext cx="11247120" cy="1371600"/>
          </a:xfrm>
          <a:prstGeom prst="rect">
            <a:avLst/>
          </a:prstGeom>
          <a:solidFill>
            <a:srgbClr val="1A4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074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已达成的量化指标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48640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C9A227"/>
                </a:solidFill>
                <a:latin typeface="Segoe UI"/>
              </a:rPr>
              <a:t>~44%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989320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Microsoft YaHei"/>
              </a:rPr>
              <a:t>字节码节省率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34639" y="548640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C9A227"/>
                </a:solidFill>
                <a:latin typeface="Segoe UI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34639" y="5989320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Microsoft YaHei"/>
              </a:rPr>
              <a:t>层 Visitor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0" y="548640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C9A227"/>
                </a:solidFill>
                <a:latin typeface="Segoe UI"/>
              </a:rPr>
              <a:t>100+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0" y="5989320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Microsoft YaHei"/>
              </a:rPr>
              <a:t>内置函数 / 操作码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23759" y="548640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C9A227"/>
                </a:solidFill>
                <a:latin typeface="Segoe UI"/>
              </a:rPr>
              <a:t>3 平台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23759" y="5989320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Microsoft YaHei"/>
              </a:rPr>
              <a:t>Linux / macOS / Windows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18319" y="548640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C9A227"/>
                </a:solidFill>
                <a:latin typeface="Segoe UI"/>
              </a:rPr>
              <a:t>10+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18319" y="5989320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Microsoft YaHei"/>
              </a:rPr>
              <a:t>基准合约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Segoe UI"/>
              </a:rPr>
              <a:t>14 / 16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465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Microsoft YaHei"/>
              </a:rPr>
              <a:t>实习汇报  ·  徐磊  ·  合肥元软软件有限公司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4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A4E8A"/>
                </a:solidFill>
                <a:latin typeface="Microsoft YaHei"/>
              </a:rPr>
              <a:t>二、论文进展  ·  当前进度与后续计划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64748B"/>
                </a:solidFill>
                <a:latin typeface="Microsoft YaHei"/>
              </a:rPr>
              <a:t>Progress &amp;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70432"/>
            <a:ext cx="11247120" cy="12700"/>
          </a:xfrm>
          <a:prstGeom prst="rect">
            <a:avLst/>
          </a:prstGeom>
          <a:solidFill>
            <a:srgbClr val="CFD8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A4E8A"/>
                </a:solidFill>
                <a:latin typeface="Microsoft YaHei"/>
              </a:rPr>
              <a:t>当前进度（截至 2026.04）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1828800" cy="36576"/>
          </a:xfrm>
          <a:prstGeom prst="rect">
            <a:avLst/>
          </a:prstGeom>
          <a:solidFill>
            <a:srgbClr val="1A4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92024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1F2D3D"/>
                </a:solidFill>
                <a:latin typeface="Microsoft YaHei"/>
              </a:rPr>
              <a:t>Lexer / Parser / AST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1984248"/>
            <a:ext cx="5943600" cy="164592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0" y="1984248"/>
            <a:ext cx="5943600" cy="1645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0" y="192024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>
                <a:solidFill>
                  <a:srgbClr val="1A4E8A"/>
                </a:solidFill>
                <a:latin typeface="Segoe UI"/>
              </a:rP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30428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1F2D3D"/>
                </a:solidFill>
                <a:latin typeface="Microsoft YaHei"/>
              </a:rPr>
              <a:t>四层 Visitor 分析管线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2368296"/>
            <a:ext cx="5943600" cy="164592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0" y="2368296"/>
            <a:ext cx="5349240" cy="1645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07040" y="2304288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>
                <a:solidFill>
                  <a:srgbClr val="1A4E8A"/>
                </a:solidFill>
                <a:latin typeface="Segoe UI"/>
              </a:rPr>
              <a:t>90%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688336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1F2D3D"/>
                </a:solidFill>
                <a:latin typeface="Microsoft YaHei"/>
              </a:rPr>
              <a:t>Bytecode 生成 + 类型校验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0" y="2752344"/>
            <a:ext cx="5943600" cy="164592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0" y="2752344"/>
            <a:ext cx="5052060" cy="1645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07040" y="2688336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>
                <a:solidFill>
                  <a:srgbClr val="1A4E8A"/>
                </a:solidFill>
                <a:latin typeface="Segoe UI"/>
              </a:rPr>
              <a:t>85%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072384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1F2D3D"/>
                </a:solidFill>
                <a:latin typeface="Microsoft YaHei"/>
              </a:rPr>
              <a:t>BVM 模拟器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0" y="3136392"/>
            <a:ext cx="5943600" cy="164592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0" y="3136392"/>
            <a:ext cx="4457700" cy="164592"/>
          </a:xfrm>
          <a:prstGeom prst="rect">
            <a:avLst/>
          </a:prstGeom>
          <a:solidFill>
            <a:srgbClr val="2A6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07040" y="3072384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>
                <a:solidFill>
                  <a:srgbClr val="1A4E8A"/>
                </a:solidFill>
                <a:latin typeface="Segoe UI"/>
              </a:rPr>
              <a:t>75%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456432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1F2D3D"/>
                </a:solidFill>
                <a:latin typeface="Microsoft YaHei"/>
              </a:rPr>
              <a:t>CLI 交互式调试器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3520440"/>
            <a:ext cx="5943600" cy="164592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0" y="3520440"/>
            <a:ext cx="4160520" cy="164592"/>
          </a:xfrm>
          <a:prstGeom prst="rect">
            <a:avLst/>
          </a:prstGeom>
          <a:solidFill>
            <a:srgbClr val="2A6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607040" y="345643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>
                <a:solidFill>
                  <a:srgbClr val="1A4E8A"/>
                </a:solidFill>
                <a:latin typeface="Segoe UI"/>
              </a:rPr>
              <a:t>70%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84048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1F2D3D"/>
                </a:solidFill>
                <a:latin typeface="Microsoft YaHei"/>
              </a:rPr>
              <a:t>评测基准与定量数据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0" y="3904488"/>
            <a:ext cx="5943600" cy="164592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0" y="3904488"/>
            <a:ext cx="2377440" cy="164592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607040" y="384048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>
                <a:solidFill>
                  <a:srgbClr val="1A4E8A"/>
                </a:solidFill>
                <a:latin typeface="Segoe UI"/>
              </a:rPr>
              <a:t>40%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43484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4E8A"/>
                </a:solidFill>
                <a:latin typeface="Microsoft YaHei"/>
              </a:rPr>
              <a:t>后续 14 个月时间轴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937760"/>
            <a:ext cx="2194560" cy="292608"/>
          </a:xfrm>
          <a:prstGeom prst="rect">
            <a:avLst/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4974336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4E8A"/>
                </a:solidFill>
                <a:latin typeface="Segoe UI"/>
              </a:rPr>
              <a:t>2026.05–07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0" y="4974336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A6DB0"/>
                </a:solidFill>
                <a:latin typeface="Microsoft YaHei"/>
              </a:rPr>
              <a:t>理论补齐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4880" y="4974336"/>
            <a:ext cx="6949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F2D3D"/>
                </a:solidFill>
                <a:latin typeface="Microsoft YaHei"/>
              </a:rPr>
              <a:t>EBNF / 类型规则 / 所有权状态机形式化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5230368"/>
            <a:ext cx="2194560" cy="292608"/>
          </a:xfrm>
          <a:prstGeom prst="rect">
            <a:avLst/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5266944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4E8A"/>
                </a:solidFill>
                <a:latin typeface="Segoe UI"/>
              </a:rPr>
              <a:t>2026.08–10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0" y="5266944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A6DB0"/>
                </a:solidFill>
                <a:latin typeface="Microsoft YaHei"/>
              </a:rPr>
              <a:t>编译器打磨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54880" y="5266944"/>
            <a:ext cx="6949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F2D3D"/>
                </a:solidFill>
                <a:latin typeface="Microsoft YaHei"/>
              </a:rPr>
              <a:t>PreAnalysis 重构 + 字节码优化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5522976"/>
            <a:ext cx="2194560" cy="292608"/>
          </a:xfrm>
          <a:prstGeom prst="rect">
            <a:avLst/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5559552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4E8A"/>
                </a:solidFill>
                <a:latin typeface="Segoe UI"/>
              </a:rPr>
              <a:t>2026.11–12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43200" y="555955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A6DB0"/>
                </a:solidFill>
                <a:latin typeface="Microsoft YaHei"/>
              </a:rPr>
              <a:t>调试器 + 评测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54880" y="5559552"/>
            <a:ext cx="6949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F2D3D"/>
                </a:solidFill>
                <a:latin typeface="Microsoft YaHei"/>
              </a:rPr>
              <a:t>调试器 v1.0 + 定量数据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5815584"/>
            <a:ext cx="2194560" cy="292608"/>
          </a:xfrm>
          <a:prstGeom prst="rect">
            <a:avLst/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5852160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4E8A"/>
                </a:solidFill>
                <a:latin typeface="Segoe UI"/>
              </a:rPr>
              <a:t>2027.01–02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43200" y="58521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A6DB0"/>
                </a:solidFill>
                <a:latin typeface="Microsoft YaHei"/>
              </a:rPr>
              <a:t>论文撰写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54880" y="5852160"/>
            <a:ext cx="6949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F2D3D"/>
                </a:solidFill>
                <a:latin typeface="Microsoft YaHei"/>
              </a:rPr>
              <a:t>全稿 ≥ 6 万字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6108192"/>
            <a:ext cx="2194560" cy="292608"/>
          </a:xfrm>
          <a:prstGeom prst="rect">
            <a:avLst/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6144768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4E8A"/>
                </a:solidFill>
                <a:latin typeface="Segoe UI"/>
              </a:rPr>
              <a:t>2027.03–05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43200" y="6144768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A6DB0"/>
                </a:solidFill>
                <a:latin typeface="Microsoft YaHei"/>
              </a:rPr>
              <a:t>评审 + 答辩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54880" y="6144768"/>
            <a:ext cx="6949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F2D3D"/>
                </a:solidFill>
                <a:latin typeface="Microsoft YaHei"/>
              </a:rPr>
              <a:t>中期 → 预答辩 → 答辩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Segoe UI"/>
              </a:rPr>
              <a:t>15 / 16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465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Microsoft YaHei"/>
              </a:rPr>
              <a:t>实习汇报  ·  徐磊  ·  合肥元软软件有限公司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4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A4E8A"/>
                </a:solidFill>
                <a:latin typeface="Microsoft YaHei"/>
              </a:rPr>
              <a:t>三、实习收获与建议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64748B"/>
                </a:solidFill>
                <a:latin typeface="Microsoft YaHei"/>
              </a:rPr>
              <a:t>Takeaways &amp; Suggestions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70432"/>
            <a:ext cx="11247120" cy="12700"/>
          </a:xfrm>
          <a:prstGeom prst="rect">
            <a:avLst/>
          </a:prstGeom>
          <a:solidFill>
            <a:srgbClr val="CFD8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A4E8A"/>
                </a:solidFill>
                <a:latin typeface="Microsoft YaHei"/>
              </a:rPr>
              <a:t>实习收获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1371600" cy="36576"/>
          </a:xfrm>
          <a:prstGeom prst="rect">
            <a:avLst/>
          </a:prstGeom>
          <a:solidFill>
            <a:srgbClr val="1A4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5760720" cy="96012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920240"/>
            <a:ext cx="73152" cy="9601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0116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A4E8A"/>
                </a:solidFill>
                <a:latin typeface="Microsoft YaHei"/>
              </a:rPr>
              <a:t>技术能力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33172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F2D3D"/>
                </a:solidFill>
                <a:latin typeface="Microsoft YaHei"/>
              </a:rPr>
              <a:t>深入掌握 C++20 现代特性、CMake 工程化、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1F2D3D"/>
                </a:solidFill>
                <a:latin typeface="Microsoft YaHei"/>
              </a:rPr>
              <a:t>编译器架构与栈式虚拟机执行模型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953511"/>
            <a:ext cx="5760720" cy="96012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953511"/>
            <a:ext cx="73152" cy="9601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044951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A4E8A"/>
                </a:solidFill>
                <a:latin typeface="Microsoft YaHei"/>
              </a:rPr>
              <a:t>工程素养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364991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F2D3D"/>
                </a:solidFill>
                <a:latin typeface="Microsoft YaHei"/>
              </a:rPr>
              <a:t>代码评审、跨平台构建、错误管理、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1F2D3D"/>
                </a:solidFill>
                <a:latin typeface="Microsoft YaHei"/>
              </a:rPr>
              <a:t>单元测试、Git 协作流程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986782"/>
            <a:ext cx="5760720" cy="96012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986782"/>
            <a:ext cx="73152" cy="9601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078222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A4E8A"/>
                </a:solidFill>
                <a:latin typeface="Microsoft YaHei"/>
              </a:rPr>
              <a:t>领域知识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398262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F2D3D"/>
                </a:solidFill>
                <a:latin typeface="Microsoft YaHei"/>
              </a:rPr>
              <a:t>比特币脚本规范、UTXO 模型、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1F2D3D"/>
                </a:solidFill>
                <a:latin typeface="Microsoft YaHei"/>
              </a:rPr>
              <a:t>Web3 / 区块链底层基础设施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020053"/>
            <a:ext cx="5760720" cy="96012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5020053"/>
            <a:ext cx="73152" cy="9601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111493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A4E8A"/>
                </a:solidFill>
                <a:latin typeface="Microsoft YaHei"/>
              </a:rPr>
              <a:t>研究能力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431533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F2D3D"/>
                </a:solidFill>
                <a:latin typeface="Microsoft YaHei"/>
              </a:rPr>
              <a:t>把工程问题抽象为论文研究问题，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1F2D3D"/>
                </a:solidFill>
                <a:latin typeface="Microsoft YaHei"/>
              </a:rPr>
              <a:t>形式化描述 + 定量评测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128016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A4E8A"/>
                </a:solidFill>
                <a:latin typeface="Microsoft YaHei"/>
              </a:rPr>
              <a:t>建议与展望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1645920"/>
            <a:ext cx="1371600" cy="36576"/>
          </a:xfrm>
          <a:prstGeom prst="rect">
            <a:avLst/>
          </a:prstGeom>
          <a:solidFill>
            <a:srgbClr val="1A4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0" y="1920240"/>
            <a:ext cx="5303520" cy="960120"/>
          </a:xfrm>
          <a:prstGeom prst="rect">
            <a:avLst/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0" y="1920240"/>
            <a:ext cx="73152" cy="960120"/>
          </a:xfrm>
          <a:prstGeom prst="rect">
            <a:avLst/>
          </a:prstGeom>
          <a:solidFill>
            <a:srgbClr val="1A4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201168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A4E8A"/>
                </a:solidFill>
                <a:latin typeface="Microsoft YaHei"/>
              </a:rPr>
              <a:t>对自己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233172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F2D3D"/>
                </a:solidFill>
                <a:latin typeface="Microsoft YaHei"/>
              </a:rPr>
              <a:t>持续打磨编译器原型 → 论文成果；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1F2D3D"/>
                </a:solidFill>
                <a:latin typeface="Microsoft YaHei"/>
              </a:rPr>
              <a:t>关注国际同类项目的最新进展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2953511"/>
            <a:ext cx="5303520" cy="960120"/>
          </a:xfrm>
          <a:prstGeom prst="rect">
            <a:avLst/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0" y="2953511"/>
            <a:ext cx="73152" cy="960120"/>
          </a:xfrm>
          <a:prstGeom prst="rect">
            <a:avLst/>
          </a:prstGeom>
          <a:solidFill>
            <a:srgbClr val="1A4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3044951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A4E8A"/>
                </a:solidFill>
                <a:latin typeface="Microsoft YaHei"/>
              </a:rPr>
              <a:t>对学校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3364991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F2D3D"/>
                </a:solidFill>
                <a:latin typeface="Microsoft YaHei"/>
              </a:rPr>
              <a:t>鼓励学生进入有真实场景的初创企业；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1F2D3D"/>
                </a:solidFill>
                <a:latin typeface="Microsoft YaHei"/>
              </a:rPr>
              <a:t>推动「论文研究 ↔ 工程产出」双向赋能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3986782"/>
            <a:ext cx="5303520" cy="960120"/>
          </a:xfrm>
          <a:prstGeom prst="rect">
            <a:avLst/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00800" y="3986782"/>
            <a:ext cx="73152" cy="960120"/>
          </a:xfrm>
          <a:prstGeom prst="rect">
            <a:avLst/>
          </a:prstGeom>
          <a:solidFill>
            <a:srgbClr val="1A4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0" y="4078222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A4E8A"/>
                </a:solidFill>
                <a:latin typeface="Microsoft YaHei"/>
              </a:rPr>
              <a:t>对企业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4398262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F2D3D"/>
                </a:solidFill>
                <a:latin typeface="Microsoft YaHei"/>
              </a:rPr>
              <a:t>建议建立内部技术分享与代码评审制度，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1F2D3D"/>
                </a:solidFill>
                <a:latin typeface="Microsoft YaHei"/>
              </a:rPr>
              <a:t>持续输出技术博客以提升行业影响力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5020053"/>
            <a:ext cx="5303520" cy="960120"/>
          </a:xfrm>
          <a:prstGeom prst="rect">
            <a:avLst/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00800" y="5020053"/>
            <a:ext cx="73152" cy="960120"/>
          </a:xfrm>
          <a:prstGeom prst="rect">
            <a:avLst/>
          </a:prstGeom>
          <a:solidFill>
            <a:srgbClr val="1A4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0" y="5111493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A4E8A"/>
                </a:solidFill>
                <a:latin typeface="Microsoft YaHei"/>
              </a:rPr>
              <a:t>对行业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0" y="5431533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F2D3D"/>
                </a:solidFill>
                <a:latin typeface="Microsoft YaHei"/>
              </a:rPr>
              <a:t>Web3 与编译技术的交叉是蓝海方向；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1F2D3D"/>
                </a:solidFill>
                <a:latin typeface="Microsoft YaHei"/>
              </a:rPr>
              <a:t>双栈 VM 工具链有广阔产学研应用空间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6126480"/>
            <a:ext cx="11247120" cy="274320"/>
          </a:xfrm>
          <a:prstGeom prst="rect">
            <a:avLst/>
          </a:prstGeom>
          <a:solidFill>
            <a:srgbClr val="1A4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612648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感谢合肥元软软件有限公司提供的实习机会  ·  感谢导师与同事的悉心指导   ·   敬请批评指正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Segoe UI"/>
              </a:rPr>
              <a:t>16 / 16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64465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Microsoft YaHei"/>
              </a:rPr>
              <a:t>实习汇报  ·  徐磊  ·  合肥元软软件有限公司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